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shGuard AI" id="{8158bce0-14da-1bd9-fc2c-efe3d2914cd5}">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(introduce): Good morning. Our project is PhishGuard AI. It is a machine-learning system that looks at a web link (URL) and decides whether it is phishing or legitimate.
WHAT IS PHISHING: Phishing is a cyber-attack where the attacker builds a fake website or link that imitates something trusted, like a bank login page, so the user types in a password or card details.
WHY IT IS A PROBLEM: The usual defence is a blacklist, a database of known bad links. But blacklists are reactive. Attackers create new throw-away links every day, and a link can steal credentials and disappear before any blacklist is updated. This is called a zero-day or zero-hour phishing problem.
HOW WE APPROACH IT: Instead of looking the link up in a list, we analyse the structure of the URL string itself: how long it is, how many slashes and special characters it has, what domain ending it uses, whether it contains words like login, verify or bank. A trained model then decides. Importantly, we never open the link, so nobody is exposed to the malicious site.
OBJECTIVE: Build and deploy a fast machine-learning classifier that takes any URL, labels it phishing or legitimate, and also shows a confidence score and the reasons behind the decision.
The screenshot is our deployed website. The strip at the bottom is the whole project in one line: a suspicious URL goes in, the model analyses it, and a verdict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along the pipeline.
STEP 1-2, INPUT AND PREPROCESSING. The user pastes a URL. We clean it up and split it into parts (protocol, domain, path) as a plain text string. The website is never opened or pinged. WHY: visiting a phishing site could download malware or alert the attacker, so analysing only the text is safer and faster.
STEP 3-4, FEATURE EXTRACTION.
What: converting the URL text into 15 numbers.
How: we compute lexical and structural measurements. Our site groups them in three families: token and character counts (special characters, hyphens, dots, numeric or hex patterns); protocol and domain-ending checks (HTTPS, risky endings like .xyz, .top, .buzz, .tk); and social-engineering words such as login, verify, billing. (Keep the exact list of your 15 features from the code ready, in case the examiner asks.)
Why: machine-learning models cannot read text, they need numbers, and phishing URLs tend to look different from normal ones in these measurements.
STEP 5, RANDOM FOREST.
What: a collection of 100 decision trees. Each tree is trained on a random sample of the data and sees random features.
How: every tree votes phishing or legitimate, and the majority wins. The share of votes gives the probability and confidence score.
Why we chose it: one tree can memorise the training data (overfitting); averaging 100 different trees reduces that. It handles non-linear relationships between features, and it gives feature importance, which supports our explainable-AI output. We also benchmarked Decision Tree and Logistic Regression, and Random Forest was selected as best. The bars on the right are real importance values from our site: slash count and suspicious keywords matter most.
STEP 6-7, OUTPUT. The model gives a prediction plus risk level, confidence, and the indicators that triggered the decision.
Tools: Python and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working website and how well the model performs.
THE DEMO (do this live if possible). Open the Live Scanner section. 1) Paste a URL or pick one of the preset test cases. 2) Click Check URL. 3) The site shows the verdict, phishing or legitimate. 4) It shows the confidence percentage and risk level, plus a phishing-probability meter with a 50% threshold. 5) Below that, the Explainable AI indicators list which structural anomalies triggered the decision, and a table shows the 15 extracted values. Remind the audience that the target URL is never opened.
THE RESULTS.
What: we measured the model on 1,200 URLs it had never seen during training, 600 safe and 600 phishing.
How: for Random Forest, accuracy, precision, recall and F1-score are all 100% on this test set. Decision Tree also scored 100%, and Logistic Regression scored 99.75% accuracy, so Random Forest was kept as the deployed model.
Confusion matrix: all 600 safe URLs were classified safe (true negatives), none were wrongly flagged (false positives = 0). Because recall is 100%, all 600 phishing URLs were caught (false negatives = 0, true positives = 600).
Why this matters: recall means how many real phishing links we catch; precision means how many of our alerts are truly phishing.
BE HONEST IF ASKED: a perfect score on one test set does not mean perfect detection in the real world. Our test set is limited, and attackers keep changing URL patterns. Treat it as strong evidence on our dataset, not a guarantee. Expect the question, is 100% overfitting? Answer: the 1,200 URLs were held out from training, and we also compared against two other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about a minute and a half.
CONCLUSION. We built PhishGuard AI, a working, deployed web tool that classifies URLs as phishing or legitimate using a Random Forest of 100 trees trained on 15 URL features. It gives a verdict, confidence, risk level and explanation, and it never visits the link.
ADVANTAGES.
What: the strengths of the system. How/Why: it is fast because it only processes a short text string, in milliseconds. It is safe because the suspicious site is never opened. It is automated, so no manual blacklist updates. It uses many URL characteristics at once, and it is explainable, so the user can see which features raised the alarm instead of a black-box answer.
LIMITATIONS (be upfront, examiners value honesty).
It mainly looks at the URL text only, not page content. It cannot guarantee catching every phishing URL. Attackers can deliberately change URL patterns to look normal. And like any ML model, performance depends on the quality and variety of the training data.
FUTURE SCOPE.
A browser extension so links are checked automatically while browsing; email phishing detection by scanning links in incoming mail; real-time threat intelligence feeds and domain reputation checks to add information beyond the URL text; typosquatting detection for look-alike domains such as small spelling tricks; and continuous retraining so the model keeps up with new attack patterns.
Close: thank the audience and invite questions. Likely questions to prepare: why Random Forest, what are the 15 features, why does the model not visit the site, is 100% accuracy realistic, how would you handle new attack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4114800" cy="7315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jp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5852160" y="-1645920"/>
            <a:ext cx="4572000" cy="4572000"/>
          </a:xfrm>
          <a:prstGeom prst="ellipse">
            <a:avLst/>
          </a:prstGeom>
          <a:solidFill>
            <a:schemeClr val="accent2">
              <a:alpha val="8000"/>
            </a:schemeClr>
          </a:solidFill>
          <a:ln/>
        </p:spPr>
      </p:sp>
      <p:sp>
        <p:nvSpPr>
          <p:cNvPr id="3" name="Text 0"/>
          <p:cNvSpPr/>
          <p:nvPr>
            <p:ph idx="100" type="title" hasCustomPrompt="1"/>
          </p:nvPr>
        </p:nvSpPr>
        <p:spPr>
          <a:xfrm>
            <a:off x="457200" y="411480"/>
            <a:ext cx="4114800" cy="731520"/>
          </a:xfrm>
          <a:prstGeom prst="rect">
            <a:avLst/>
          </a:prstGeom>
          <a:noFill/>
          <a:ln/>
        </p:spPr>
        <p:txBody>
          <a:bodyPr wrap="square" lIns="0" tIns="0" rIns="0" bIns="0" rtlCol="0" anchor="ctr"/>
          <a:lstStyle/>
          <a:p>
            <a:pPr algn="l" indent="0" marL="0">
              <a:buNone/>
            </a:pPr>
            <a:r>
              <a:rPr lang="en-US" sz="4000" b="1" dirty="0">
                <a:solidFill>
                  <a:schemeClr val="tx1"/>
                </a:solidFill>
              </a:rPr>
              <a:t>PhishGuard AI</a:t>
            </a:r>
            <a:endParaRPr lang="en-US" sz="4000" dirty="0"/>
          </a:p>
        </p:txBody>
      </p:sp>
      <p:sp>
        <p:nvSpPr>
          <p:cNvPr id="4" name="Subtitle"/>
          <p:cNvSpPr txBox="1"/>
          <p:nvPr/>
        </p:nvSpPr>
        <p:spPr>
          <a:xfrm>
            <a:off x="457200" y="1143000"/>
            <a:ext cx="4114800" cy="502920"/>
          </a:xfrm>
          <a:prstGeom prst="rect">
            <a:avLst/>
          </a:prstGeom>
          <a:noFill/>
          <a:ln/>
        </p:spPr>
        <p:txBody>
          <a:bodyPr wrap="square" lIns="0" tIns="0" rIns="0" bIns="0" rtlCol="0" anchor="t"/>
          <a:lstStyle/>
          <a:p>
            <a:pPr indent="0" marL="0">
              <a:buNone/>
            </a:pPr>
            <a:r>
              <a:rPr lang="en-US" sz="1600" b="1" dirty="0">
                <a:solidFill>
                  <a:schemeClr val="accent1"/>
                </a:solidFill>
              </a:rPr>
              <a:t>Machine Learning Based Phishing URL Detection</a:t>
            </a:r>
            <a:endParaRPr lang="en-US" sz="1600" dirty="0"/>
          </a:p>
        </p:txBody>
      </p:sp>
      <p:sp>
        <p:nvSpPr>
          <p:cNvPr id="5" name="Problem statement"/>
          <p:cNvSpPr txBox="1"/>
          <p:nvPr/>
        </p:nvSpPr>
        <p:spPr>
          <a:xfrm>
            <a:off x="457200" y="1691640"/>
            <a:ext cx="4023360" cy="502920"/>
          </a:xfrm>
          <a:prstGeom prst="rect">
            <a:avLst/>
          </a:prstGeom>
          <a:noFill/>
          <a:ln/>
        </p:spPr>
        <p:txBody>
          <a:bodyPr wrap="square" lIns="0" tIns="0" rIns="0" bIns="0" rtlCol="0" anchor="t"/>
          <a:lstStyle/>
          <a:p>
            <a:pPr indent="0" marL="0">
              <a:buNone/>
            </a:pPr>
            <a:r>
              <a:rPr lang="en-US" sz="1300" i="1" dirty="0">
                <a:solidFill>
                  <a:schemeClr val="tx2"/>
                </a:solidFill>
              </a:rPr>
              <a:t>Attackers create fake links faster than blacklists can update. One click can hand over a password.</a:t>
            </a:r>
            <a:endParaRPr lang="en-US" sz="1300" dirty="0"/>
          </a:p>
        </p:txBody>
      </p:sp>
      <p:sp>
        <p:nvSpPr>
          <p:cNvPr id="6" name="What is phishing? circle"/>
          <p:cNvSpPr/>
          <p:nvPr/>
        </p:nvSpPr>
        <p:spPr>
          <a:xfrm>
            <a:off x="457200" y="2331720"/>
            <a:ext cx="420624" cy="420624"/>
          </a:xfrm>
          <a:prstGeom prst="ellipse">
            <a:avLst/>
          </a:prstGeom>
          <a:solidFill>
            <a:schemeClr val="accent6"/>
          </a:solidFill>
          <a:ln w="9525">
            <a:solidFill>
              <a:schemeClr val="accent1">
                <a:alpha val="50000"/>
              </a:schemeClr>
            </a:solidFill>
            <a:prstDash val="solid"/>
          </a:ln>
        </p:spPr>
      </p:sp>
      <p:pic>
        <p:nvPicPr>
          <p:cNvPr id="7" name="Image 0" descr="What is phishing?">    </p:cNvPr>
          <p:cNvPicPr>
            <a:picLocks noChangeAspect="1"/>
          </p:cNvPicPr>
          <p:nvPr/>
        </p:nvPicPr>
        <p:blipFill>
          <a:blip r:embed="rId1"/>
          <a:stretch>
            <a:fillRect/>
          </a:stretch>
        </p:blipFill>
        <p:spPr>
          <a:xfrm>
            <a:off x="562356" y="2436876"/>
            <a:ext cx="210312" cy="210312"/>
          </a:xfrm>
          <a:prstGeom prst="rect">
            <a:avLst/>
          </a:prstGeom>
        </p:spPr>
      </p:pic>
      <p:sp>
        <p:nvSpPr>
          <p:cNvPr id="8" name="What is phishing?"/>
          <p:cNvSpPr txBox="1"/>
          <p:nvPr/>
        </p:nvSpPr>
        <p:spPr>
          <a:xfrm>
            <a:off x="1005840" y="2331720"/>
            <a:ext cx="3474720" cy="219456"/>
          </a:xfrm>
          <a:prstGeom prst="rect">
            <a:avLst/>
          </a:prstGeom>
          <a:noFill/>
          <a:ln/>
        </p:spPr>
        <p:txBody>
          <a:bodyPr wrap="square" lIns="0" tIns="0" rIns="0" bIns="0" rtlCol="0" anchor="t"/>
          <a:lstStyle/>
          <a:p>
            <a:pPr indent="0" marL="0">
              <a:buNone/>
            </a:pPr>
            <a:r>
              <a:rPr lang="en-US" sz="1300" b="1" dirty="0">
                <a:solidFill>
                  <a:schemeClr val="tx1"/>
                </a:solidFill>
              </a:rPr>
              <a:t>What is phishing?</a:t>
            </a:r>
            <a:endParaRPr lang="en-US" sz="1300" dirty="0"/>
          </a:p>
        </p:txBody>
      </p:sp>
      <p:sp>
        <p:nvSpPr>
          <p:cNvPr id="9" name="What is phishing? detail"/>
          <p:cNvSpPr txBox="1"/>
          <p:nvPr/>
        </p:nvSpPr>
        <p:spPr>
          <a:xfrm>
            <a:off x="1005840" y="2551176"/>
            <a:ext cx="3474720" cy="201168"/>
          </a:xfrm>
          <a:prstGeom prst="rect">
            <a:avLst/>
          </a:prstGeom>
          <a:noFill/>
          <a:ln/>
        </p:spPr>
        <p:txBody>
          <a:bodyPr wrap="square" lIns="0" tIns="0" rIns="0" bIns="0" rtlCol="0" anchor="t"/>
          <a:lstStyle/>
          <a:p>
            <a:pPr indent="0" marL="0">
              <a:buNone/>
            </a:pPr>
            <a:r>
              <a:rPr lang="en-US" sz="1200" dirty="0">
                <a:solidFill>
                  <a:schemeClr val="tx2"/>
                </a:solidFill>
              </a:rPr>
              <a:t>Fake sites that steal passwords &amp; card details</a:t>
            </a:r>
            <a:endParaRPr lang="en-US" sz="1200" dirty="0"/>
          </a:p>
        </p:txBody>
      </p:sp>
      <p:sp>
        <p:nvSpPr>
          <p:cNvPr id="10" name="Why detect phishing URLs? circle"/>
          <p:cNvSpPr/>
          <p:nvPr/>
        </p:nvSpPr>
        <p:spPr>
          <a:xfrm>
            <a:off x="457200" y="2898648"/>
            <a:ext cx="420624" cy="420624"/>
          </a:xfrm>
          <a:prstGeom prst="ellipse">
            <a:avLst/>
          </a:prstGeom>
          <a:solidFill>
            <a:schemeClr val="accent6"/>
          </a:solidFill>
          <a:ln w="9525">
            <a:solidFill>
              <a:schemeClr val="accent1">
                <a:alpha val="50000"/>
              </a:schemeClr>
            </a:solidFill>
            <a:prstDash val="solid"/>
          </a:ln>
        </p:spPr>
      </p:sp>
      <p:pic>
        <p:nvPicPr>
          <p:cNvPr id="11" name="Image 1" descr="Why detect phishing URLs?">    </p:cNvPr>
          <p:cNvPicPr>
            <a:picLocks noChangeAspect="1"/>
          </p:cNvPicPr>
          <p:nvPr/>
        </p:nvPicPr>
        <p:blipFill>
          <a:blip r:embed="rId2"/>
          <a:stretch>
            <a:fillRect/>
          </a:stretch>
        </p:blipFill>
        <p:spPr>
          <a:xfrm>
            <a:off x="562356" y="3003804"/>
            <a:ext cx="210312" cy="210312"/>
          </a:xfrm>
          <a:prstGeom prst="rect">
            <a:avLst/>
          </a:prstGeom>
        </p:spPr>
      </p:pic>
      <p:sp>
        <p:nvSpPr>
          <p:cNvPr id="12" name="Why detect phishing URLs?"/>
          <p:cNvSpPr txBox="1"/>
          <p:nvPr/>
        </p:nvSpPr>
        <p:spPr>
          <a:xfrm>
            <a:off x="1005840" y="2898648"/>
            <a:ext cx="3474720" cy="219456"/>
          </a:xfrm>
          <a:prstGeom prst="rect">
            <a:avLst/>
          </a:prstGeom>
          <a:noFill/>
          <a:ln/>
        </p:spPr>
        <p:txBody>
          <a:bodyPr wrap="square" lIns="0" tIns="0" rIns="0" bIns="0" rtlCol="0" anchor="t"/>
          <a:lstStyle/>
          <a:p>
            <a:pPr indent="0" marL="0">
              <a:buNone/>
            </a:pPr>
            <a:r>
              <a:rPr lang="en-US" sz="1300" b="1" dirty="0">
                <a:solidFill>
                  <a:schemeClr val="tx1"/>
                </a:solidFill>
              </a:rPr>
              <a:t>Why detect phishing URLs?</a:t>
            </a:r>
            <a:endParaRPr lang="en-US" sz="1300" dirty="0"/>
          </a:p>
        </p:txBody>
      </p:sp>
      <p:sp>
        <p:nvSpPr>
          <p:cNvPr id="13" name="Why detect phishing URLs? detail"/>
          <p:cNvSpPr txBox="1"/>
          <p:nvPr/>
        </p:nvSpPr>
        <p:spPr>
          <a:xfrm>
            <a:off x="1005840" y="3118104"/>
            <a:ext cx="3474720" cy="201168"/>
          </a:xfrm>
          <a:prstGeom prst="rect">
            <a:avLst/>
          </a:prstGeom>
          <a:noFill/>
          <a:ln/>
        </p:spPr>
        <p:txBody>
          <a:bodyPr wrap="square" lIns="0" tIns="0" rIns="0" bIns="0" rtlCol="0" anchor="t"/>
          <a:lstStyle/>
          <a:p>
            <a:pPr indent="0" marL="0">
              <a:buNone/>
            </a:pPr>
            <a:r>
              <a:rPr lang="en-US" sz="1200" dirty="0">
                <a:solidFill>
                  <a:schemeClr val="tx2"/>
                </a:solidFill>
              </a:rPr>
              <a:t>Blacklists are too slow for brand-new links</a:t>
            </a:r>
            <a:endParaRPr lang="en-US" sz="1200" dirty="0"/>
          </a:p>
        </p:txBody>
      </p:sp>
      <p:sp>
        <p:nvSpPr>
          <p:cNvPr id="14" name="Objective circle"/>
          <p:cNvSpPr/>
          <p:nvPr/>
        </p:nvSpPr>
        <p:spPr>
          <a:xfrm>
            <a:off x="457200" y="3465576"/>
            <a:ext cx="420624" cy="420624"/>
          </a:xfrm>
          <a:prstGeom prst="ellipse">
            <a:avLst/>
          </a:prstGeom>
          <a:solidFill>
            <a:schemeClr val="accent6"/>
          </a:solidFill>
          <a:ln w="9525">
            <a:solidFill>
              <a:schemeClr val="accent1">
                <a:alpha val="50000"/>
              </a:schemeClr>
            </a:solidFill>
            <a:prstDash val="solid"/>
          </a:ln>
        </p:spPr>
      </p:sp>
      <p:pic>
        <p:nvPicPr>
          <p:cNvPr id="15" name="Image 2" descr="Objective">    </p:cNvPr>
          <p:cNvPicPr>
            <a:picLocks noChangeAspect="1"/>
          </p:cNvPicPr>
          <p:nvPr/>
        </p:nvPicPr>
        <p:blipFill>
          <a:blip r:embed="rId3"/>
          <a:stretch>
            <a:fillRect/>
          </a:stretch>
        </p:blipFill>
        <p:spPr>
          <a:xfrm>
            <a:off x="562356" y="3570732"/>
            <a:ext cx="210312" cy="210312"/>
          </a:xfrm>
          <a:prstGeom prst="rect">
            <a:avLst/>
          </a:prstGeom>
        </p:spPr>
      </p:pic>
      <p:sp>
        <p:nvSpPr>
          <p:cNvPr id="16" name="Objective"/>
          <p:cNvSpPr txBox="1"/>
          <p:nvPr/>
        </p:nvSpPr>
        <p:spPr>
          <a:xfrm>
            <a:off x="1005840" y="3465576"/>
            <a:ext cx="3474720" cy="219456"/>
          </a:xfrm>
          <a:prstGeom prst="rect">
            <a:avLst/>
          </a:prstGeom>
          <a:noFill/>
          <a:ln/>
        </p:spPr>
        <p:txBody>
          <a:bodyPr wrap="square" lIns="0" tIns="0" rIns="0" bIns="0" rtlCol="0" anchor="t"/>
          <a:lstStyle/>
          <a:p>
            <a:pPr indent="0" marL="0">
              <a:buNone/>
            </a:pPr>
            <a:r>
              <a:rPr lang="en-US" sz="1300" b="1" dirty="0">
                <a:solidFill>
                  <a:schemeClr val="tx1"/>
                </a:solidFill>
              </a:rPr>
              <a:t>Objective</a:t>
            </a:r>
            <a:endParaRPr lang="en-US" sz="1300" dirty="0"/>
          </a:p>
        </p:txBody>
      </p:sp>
      <p:sp>
        <p:nvSpPr>
          <p:cNvPr id="17" name="Objective detail"/>
          <p:cNvSpPr txBox="1"/>
          <p:nvPr/>
        </p:nvSpPr>
        <p:spPr>
          <a:xfrm>
            <a:off x="1005840" y="3685032"/>
            <a:ext cx="3474720" cy="201168"/>
          </a:xfrm>
          <a:prstGeom prst="rect">
            <a:avLst/>
          </a:prstGeom>
          <a:noFill/>
          <a:ln/>
        </p:spPr>
        <p:txBody>
          <a:bodyPr wrap="square" lIns="0" tIns="0" rIns="0" bIns="0" rtlCol="0" anchor="t"/>
          <a:lstStyle/>
          <a:p>
            <a:pPr indent="0" marL="0">
              <a:buNone/>
            </a:pPr>
            <a:r>
              <a:rPr lang="en-US" sz="1200" dirty="0">
                <a:solidFill>
                  <a:schemeClr val="tx2"/>
                </a:solidFill>
              </a:rPr>
              <a:t>Classify any URL as phishing or legitimate</a:t>
            </a:r>
            <a:endParaRPr lang="en-US" sz="1200" dirty="0"/>
          </a:p>
        </p:txBody>
      </p:sp>
      <p:sp>
        <p:nvSpPr>
          <p:cNvPr id="18" name="Screenshot frame"/>
          <p:cNvSpPr/>
          <p:nvPr/>
        </p:nvSpPr>
        <p:spPr>
          <a:xfrm>
            <a:off x="4663440" y="457200"/>
            <a:ext cx="4251960" cy="2624170"/>
          </a:xfrm>
          <a:prstGeom prst="roundRect">
            <a:avLst>
              <a:gd name="adj" fmla="val 2091"/>
            </a:avLst>
          </a:prstGeom>
          <a:solidFill>
            <a:schemeClr val="bg2"/>
          </a:solidFill>
          <a:ln w="12700">
            <a:solidFill>
              <a:schemeClr val="accent1">
                <a:alpha val="60000"/>
              </a:schemeClr>
            </a:solidFill>
            <a:prstDash val="solid"/>
          </a:ln>
        </p:spPr>
      </p:sp>
      <p:pic>
        <p:nvPicPr>
          <p:cNvPr id="19" name="Image 3" descr="PhishGuard AI website home page (real screenshot)">    </p:cNvPr>
          <p:cNvPicPr>
            <a:picLocks noChangeAspect="1"/>
          </p:cNvPicPr>
          <p:nvPr/>
        </p:nvPicPr>
        <p:blipFill>
          <a:blip r:embed="rId4"/>
          <a:stretch>
            <a:fillRect/>
          </a:stretch>
        </p:blipFill>
        <p:spPr>
          <a:xfrm>
            <a:off x="4709160" y="502920"/>
            <a:ext cx="4160520" cy="2532730"/>
          </a:xfrm>
          <a:prstGeom prst="rect">
            <a:avLst/>
          </a:prstGeom>
        </p:spPr>
      </p:pic>
      <p:sp>
        <p:nvSpPr>
          <p:cNvPr id="20" name="Screenshot caption"/>
          <p:cNvSpPr txBox="1"/>
          <p:nvPr/>
        </p:nvSpPr>
        <p:spPr>
          <a:xfrm>
            <a:off x="4663440" y="3145378"/>
            <a:ext cx="4251960" cy="201168"/>
          </a:xfrm>
          <a:prstGeom prst="rect">
            <a:avLst/>
          </a:prstGeom>
          <a:noFill/>
          <a:ln/>
        </p:spPr>
        <p:txBody>
          <a:bodyPr wrap="square" lIns="0" tIns="0" rIns="0" bIns="0" rtlCol="0" anchor="ctr"/>
          <a:lstStyle/>
          <a:p>
            <a:pPr algn="ctr" indent="0" marL="0">
              <a:buNone/>
            </a:pPr>
            <a:r>
              <a:rPr lang="en-US" sz="1000" dirty="0">
                <a:solidFill>
                  <a:schemeClr val="tx2"/>
                </a:solidFill>
              </a:rPr>
              <a:t>Our deployed website</a:t>
            </a:r>
            <a:endParaRPr lang="en-US" sz="1000" dirty="0"/>
          </a:p>
        </p:txBody>
      </p:sp>
      <p:sp>
        <p:nvSpPr>
          <p:cNvPr id="21" name="Stat URL features"/>
          <p:cNvSpPr/>
          <p:nvPr/>
        </p:nvSpPr>
        <p:spPr>
          <a:xfrm>
            <a:off x="4663440" y="3493008"/>
            <a:ext cx="1371600" cy="475488"/>
          </a:xfrm>
          <a:prstGeom prst="roundRect">
            <a:avLst>
              <a:gd name="adj" fmla="val 15385"/>
            </a:avLst>
          </a:prstGeom>
          <a:solidFill>
            <a:schemeClr val="bg2"/>
          </a:solidFill>
          <a:ln w="9525">
            <a:solidFill>
              <a:schemeClr val="accent2">
                <a:alpha val="40000"/>
              </a:schemeClr>
            </a:solidFill>
            <a:prstDash val="solid"/>
          </a:ln>
        </p:spPr>
      </p:sp>
      <p:sp>
        <p:nvSpPr>
          <p:cNvPr id="22" name="Stat text URL features"/>
          <p:cNvSpPr txBox="1"/>
          <p:nvPr/>
        </p:nvSpPr>
        <p:spPr>
          <a:xfrm>
            <a:off x="4663440" y="3493008"/>
            <a:ext cx="1371600" cy="475488"/>
          </a:xfrm>
          <a:prstGeom prst="rect">
            <a:avLst/>
          </a:prstGeom>
          <a:noFill/>
          <a:ln/>
        </p:spPr>
        <p:txBody>
          <a:bodyPr wrap="square" lIns="0" tIns="0" rIns="0" bIns="0" rtlCol="0" anchor="ctr"/>
          <a:lstStyle/>
          <a:p>
            <a:pPr algn="ctr" indent="0" marL="0">
              <a:buNone/>
            </a:pPr>
            <a:r>
              <a:rPr lang="en-US" sz="1800" b="1" dirty="0">
                <a:solidFill>
                  <a:schemeClr val="accent1"/>
                </a:solidFill>
              </a:rPr>
              <a:t>15 </a:t>
            </a:r>
            <a:pPr algn="ctr" indent="0" marL="0">
              <a:buNone/>
            </a:pPr>
            <a:r>
              <a:rPr lang="en-US" sz="1000" dirty="0">
                <a:solidFill>
                  <a:schemeClr val="tx2"/>
                </a:solidFill>
              </a:rPr>
              <a:t>URL features</a:t>
            </a:r>
            <a:endParaRPr lang="en-US" sz="1800" dirty="0"/>
          </a:p>
        </p:txBody>
      </p:sp>
      <p:sp>
        <p:nvSpPr>
          <p:cNvPr id="23" name="Stat decision trees"/>
          <p:cNvSpPr/>
          <p:nvPr/>
        </p:nvSpPr>
        <p:spPr>
          <a:xfrm>
            <a:off x="6099048" y="3493008"/>
            <a:ext cx="1371600" cy="475488"/>
          </a:xfrm>
          <a:prstGeom prst="roundRect">
            <a:avLst>
              <a:gd name="adj" fmla="val 15385"/>
            </a:avLst>
          </a:prstGeom>
          <a:solidFill>
            <a:schemeClr val="bg2"/>
          </a:solidFill>
          <a:ln w="9525">
            <a:solidFill>
              <a:schemeClr val="accent2">
                <a:alpha val="40000"/>
              </a:schemeClr>
            </a:solidFill>
            <a:prstDash val="solid"/>
          </a:ln>
        </p:spPr>
      </p:sp>
      <p:sp>
        <p:nvSpPr>
          <p:cNvPr id="24" name="Stat text decision trees"/>
          <p:cNvSpPr txBox="1"/>
          <p:nvPr/>
        </p:nvSpPr>
        <p:spPr>
          <a:xfrm>
            <a:off x="6099048" y="3493008"/>
            <a:ext cx="1371600" cy="475488"/>
          </a:xfrm>
          <a:prstGeom prst="rect">
            <a:avLst/>
          </a:prstGeom>
          <a:noFill/>
          <a:ln/>
        </p:spPr>
        <p:txBody>
          <a:bodyPr wrap="square" lIns="0" tIns="0" rIns="0" bIns="0" rtlCol="0" anchor="ctr"/>
          <a:lstStyle/>
          <a:p>
            <a:pPr algn="ctr" indent="0" marL="0">
              <a:buNone/>
            </a:pPr>
            <a:r>
              <a:rPr lang="en-US" sz="1800" b="1" dirty="0">
                <a:solidFill>
                  <a:schemeClr val="accent1"/>
                </a:solidFill>
              </a:rPr>
              <a:t>100 </a:t>
            </a:r>
            <a:pPr algn="ctr" indent="0" marL="0">
              <a:buNone/>
            </a:pPr>
            <a:r>
              <a:rPr lang="en-US" sz="1000" dirty="0">
                <a:solidFill>
                  <a:schemeClr val="tx2"/>
                </a:solidFill>
              </a:rPr>
              <a:t>decision trees</a:t>
            </a:r>
            <a:endParaRPr lang="en-US" sz="1800" dirty="0"/>
          </a:p>
        </p:txBody>
      </p:sp>
      <p:sp>
        <p:nvSpPr>
          <p:cNvPr id="25" name="Stat sites visited"/>
          <p:cNvSpPr/>
          <p:nvPr/>
        </p:nvSpPr>
        <p:spPr>
          <a:xfrm>
            <a:off x="7534656" y="3493008"/>
            <a:ext cx="1371600" cy="475488"/>
          </a:xfrm>
          <a:prstGeom prst="roundRect">
            <a:avLst>
              <a:gd name="adj" fmla="val 15385"/>
            </a:avLst>
          </a:prstGeom>
          <a:solidFill>
            <a:schemeClr val="bg2"/>
          </a:solidFill>
          <a:ln w="9525">
            <a:solidFill>
              <a:schemeClr val="accent2">
                <a:alpha val="40000"/>
              </a:schemeClr>
            </a:solidFill>
            <a:prstDash val="solid"/>
          </a:ln>
        </p:spPr>
      </p:sp>
      <p:sp>
        <p:nvSpPr>
          <p:cNvPr id="26" name="Stat text sites visited"/>
          <p:cNvSpPr txBox="1"/>
          <p:nvPr/>
        </p:nvSpPr>
        <p:spPr>
          <a:xfrm>
            <a:off x="7534656" y="3493008"/>
            <a:ext cx="1371600" cy="475488"/>
          </a:xfrm>
          <a:prstGeom prst="rect">
            <a:avLst/>
          </a:prstGeom>
          <a:noFill/>
          <a:ln/>
        </p:spPr>
        <p:txBody>
          <a:bodyPr wrap="square" lIns="0" tIns="0" rIns="0" bIns="0" rtlCol="0" anchor="ctr"/>
          <a:lstStyle/>
          <a:p>
            <a:pPr algn="ctr" indent="0" marL="0">
              <a:buNone/>
            </a:pPr>
            <a:r>
              <a:rPr lang="en-US" sz="1800" b="1" dirty="0">
                <a:solidFill>
                  <a:schemeClr val="accent1"/>
                </a:solidFill>
              </a:rPr>
              <a:t>0 </a:t>
            </a:r>
            <a:pPr algn="ctr" indent="0" marL="0">
              <a:buNone/>
            </a:pPr>
            <a:r>
              <a:rPr lang="en-US" sz="1000" dirty="0">
                <a:solidFill>
                  <a:schemeClr val="tx2"/>
                </a:solidFill>
              </a:rPr>
              <a:t>sites visited</a:t>
            </a:r>
            <a:endParaRPr lang="en-US" sz="1800" dirty="0"/>
          </a:p>
        </p:txBody>
      </p:sp>
      <p:sp>
        <p:nvSpPr>
          <p:cNvPr id="27" name="Flow 1"/>
          <p:cNvSpPr/>
          <p:nvPr/>
        </p:nvSpPr>
        <p:spPr>
          <a:xfrm>
            <a:off x="457200" y="4206240"/>
            <a:ext cx="2331720" cy="548640"/>
          </a:xfrm>
          <a:prstGeom prst="roundRect">
            <a:avLst>
              <a:gd name="adj" fmla="val 16667"/>
            </a:avLst>
          </a:prstGeom>
          <a:solidFill>
            <a:schemeClr val="accent4">
              <a:alpha val="18000"/>
            </a:schemeClr>
          </a:solidFill>
          <a:ln w="15875">
            <a:solidFill>
              <a:schemeClr val="accent4"/>
            </a:solidFill>
            <a:prstDash val="solid"/>
          </a:ln>
        </p:spPr>
      </p:sp>
      <p:sp>
        <p:nvSpPr>
          <p:cNvPr id="28" name="Flow 1 text"/>
          <p:cNvSpPr txBox="1"/>
          <p:nvPr/>
        </p:nvSpPr>
        <p:spPr>
          <a:xfrm>
            <a:off x="457200" y="4206240"/>
            <a:ext cx="2331720" cy="548640"/>
          </a:xfrm>
          <a:prstGeom prst="rect">
            <a:avLst/>
          </a:prstGeom>
          <a:noFill/>
          <a:ln/>
        </p:spPr>
        <p:txBody>
          <a:bodyPr wrap="square" lIns="0" tIns="0" rIns="0" bIns="0" rtlCol="0" anchor="ctr"/>
          <a:lstStyle/>
          <a:p>
            <a:pPr algn="ctr" indent="0" marL="0">
              <a:buNone/>
            </a:pPr>
            <a:r>
              <a:rPr lang="en-US" sz="1300" b="1" dirty="0">
                <a:solidFill>
                  <a:schemeClr val="tx1"/>
                </a:solidFill>
              </a:rPr>
              <a:t>Suspicious URL</a:t>
            </a:r>
            <a:endParaRPr lang="en-US" sz="1300" dirty="0"/>
          </a:p>
        </p:txBody>
      </p:sp>
      <p:sp>
        <p:nvSpPr>
          <p:cNvPr id="29" name="Arrow"/>
          <p:cNvSpPr/>
          <p:nvPr/>
        </p:nvSpPr>
        <p:spPr>
          <a:xfrm>
            <a:off x="2880360" y="4389120"/>
            <a:ext cx="274320" cy="182880"/>
          </a:xfrm>
          <a:prstGeom prst="rightArrow">
            <a:avLst/>
          </a:prstGeom>
          <a:solidFill>
            <a:schemeClr val="accent1"/>
          </a:solidFill>
          <a:ln/>
        </p:spPr>
      </p:sp>
      <p:sp>
        <p:nvSpPr>
          <p:cNvPr id="30" name="Flow 2"/>
          <p:cNvSpPr/>
          <p:nvPr/>
        </p:nvSpPr>
        <p:spPr>
          <a:xfrm>
            <a:off x="3246120" y="4206240"/>
            <a:ext cx="2697480" cy="548640"/>
          </a:xfrm>
          <a:prstGeom prst="roundRect">
            <a:avLst>
              <a:gd name="adj" fmla="val 16667"/>
            </a:avLst>
          </a:prstGeom>
          <a:solidFill>
            <a:schemeClr val="accent1">
              <a:alpha val="18000"/>
            </a:schemeClr>
          </a:solidFill>
          <a:ln w="15875">
            <a:solidFill>
              <a:schemeClr val="accent1"/>
            </a:solidFill>
            <a:prstDash val="solid"/>
          </a:ln>
        </p:spPr>
      </p:sp>
      <p:sp>
        <p:nvSpPr>
          <p:cNvPr id="31" name="Flow 2 text"/>
          <p:cNvSpPr txBox="1"/>
          <p:nvPr/>
        </p:nvSpPr>
        <p:spPr>
          <a:xfrm>
            <a:off x="3246120" y="4206240"/>
            <a:ext cx="2697480" cy="548640"/>
          </a:xfrm>
          <a:prstGeom prst="rect">
            <a:avLst/>
          </a:prstGeom>
          <a:noFill/>
          <a:ln/>
        </p:spPr>
        <p:txBody>
          <a:bodyPr wrap="square" lIns="0" tIns="0" rIns="0" bIns="0" rtlCol="0" anchor="ctr"/>
          <a:lstStyle/>
          <a:p>
            <a:pPr algn="ctr" indent="0" marL="0">
              <a:buNone/>
            </a:pPr>
            <a:r>
              <a:rPr lang="en-US" sz="1300" b="1" dirty="0">
                <a:solidFill>
                  <a:schemeClr val="tx1"/>
                </a:solidFill>
              </a:rPr>
              <a:t>Analysis (ML model)</a:t>
            </a:r>
            <a:endParaRPr lang="en-US" sz="1300" dirty="0"/>
          </a:p>
        </p:txBody>
      </p:sp>
      <p:sp>
        <p:nvSpPr>
          <p:cNvPr id="32" name="Arrow"/>
          <p:cNvSpPr/>
          <p:nvPr/>
        </p:nvSpPr>
        <p:spPr>
          <a:xfrm>
            <a:off x="6035040" y="4389120"/>
            <a:ext cx="274320" cy="182880"/>
          </a:xfrm>
          <a:prstGeom prst="rightArrow">
            <a:avLst/>
          </a:prstGeom>
          <a:solidFill>
            <a:schemeClr val="accent1"/>
          </a:solidFill>
          <a:ln/>
        </p:spPr>
      </p:sp>
      <p:sp>
        <p:nvSpPr>
          <p:cNvPr id="33" name="Flow 3a"/>
          <p:cNvSpPr/>
          <p:nvPr/>
        </p:nvSpPr>
        <p:spPr>
          <a:xfrm>
            <a:off x="6400800" y="4206240"/>
            <a:ext cx="1143000" cy="548640"/>
          </a:xfrm>
          <a:prstGeom prst="roundRect">
            <a:avLst>
              <a:gd name="adj" fmla="val 16667"/>
            </a:avLst>
          </a:prstGeom>
          <a:solidFill>
            <a:schemeClr val="accent4">
              <a:alpha val="18000"/>
            </a:schemeClr>
          </a:solidFill>
          <a:ln w="15875">
            <a:solidFill>
              <a:schemeClr val="accent4"/>
            </a:solidFill>
            <a:prstDash val="solid"/>
          </a:ln>
        </p:spPr>
      </p:sp>
      <p:sp>
        <p:nvSpPr>
          <p:cNvPr id="34" name="Flow 3a text"/>
          <p:cNvSpPr txBox="1"/>
          <p:nvPr/>
        </p:nvSpPr>
        <p:spPr>
          <a:xfrm>
            <a:off x="6400800" y="4206240"/>
            <a:ext cx="1143000" cy="548640"/>
          </a:xfrm>
          <a:prstGeom prst="rect">
            <a:avLst/>
          </a:prstGeom>
          <a:noFill/>
          <a:ln/>
        </p:spPr>
        <p:txBody>
          <a:bodyPr wrap="square" lIns="0" tIns="0" rIns="0" bIns="0" rtlCol="0" anchor="ctr"/>
          <a:lstStyle/>
          <a:p>
            <a:pPr algn="ctr" indent="0" marL="0">
              <a:buNone/>
            </a:pPr>
            <a:r>
              <a:rPr lang="en-US" sz="1300" b="1" dirty="0">
                <a:solidFill>
                  <a:schemeClr val="tx1"/>
                </a:solidFill>
              </a:rPr>
              <a:t>Phishing</a:t>
            </a:r>
            <a:endParaRPr lang="en-US" sz="1300" dirty="0"/>
          </a:p>
        </p:txBody>
      </p:sp>
      <p:sp>
        <p:nvSpPr>
          <p:cNvPr id="35" name="Flow 3b"/>
          <p:cNvSpPr/>
          <p:nvPr/>
        </p:nvSpPr>
        <p:spPr>
          <a:xfrm>
            <a:off x="7635240" y="4206240"/>
            <a:ext cx="1143000" cy="548640"/>
          </a:xfrm>
          <a:prstGeom prst="roundRect">
            <a:avLst>
              <a:gd name="adj" fmla="val 16667"/>
            </a:avLst>
          </a:prstGeom>
          <a:solidFill>
            <a:schemeClr val="accent3">
              <a:alpha val="18000"/>
            </a:schemeClr>
          </a:solidFill>
          <a:ln w="15875">
            <a:solidFill>
              <a:schemeClr val="accent3"/>
            </a:solidFill>
            <a:prstDash val="solid"/>
          </a:ln>
        </p:spPr>
      </p:sp>
      <p:sp>
        <p:nvSpPr>
          <p:cNvPr id="36" name="Flow 3b text"/>
          <p:cNvSpPr txBox="1"/>
          <p:nvPr/>
        </p:nvSpPr>
        <p:spPr>
          <a:xfrm>
            <a:off x="7635240" y="4206240"/>
            <a:ext cx="1143000" cy="548640"/>
          </a:xfrm>
          <a:prstGeom prst="rect">
            <a:avLst/>
          </a:prstGeom>
          <a:noFill/>
          <a:ln/>
        </p:spPr>
        <p:txBody>
          <a:bodyPr wrap="square" lIns="0" tIns="0" rIns="0" bIns="0" rtlCol="0" anchor="ctr"/>
          <a:lstStyle/>
          <a:p>
            <a:pPr algn="ctr" indent="0" marL="0">
              <a:buNone/>
            </a:pPr>
            <a:r>
              <a:rPr lang="en-US" sz="1300" b="1" dirty="0">
                <a:solidFill>
                  <a:schemeClr val="tx1"/>
                </a:solidFill>
              </a:rPr>
              <a:t>Legitimate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Glow"/>
          <p:cNvSpPr/>
          <p:nvPr/>
        </p:nvSpPr>
        <p:spPr>
          <a:xfrm>
            <a:off x="6583680" y="-2011680"/>
            <a:ext cx="4572000" cy="4572000"/>
          </a:xfrm>
          <a:prstGeom prst="ellipse">
            <a:avLst/>
          </a:prstGeom>
          <a:solidFill>
            <a:schemeClr val="accent2">
              <a:alpha val="8000"/>
            </a:schemeClr>
          </a:solidFill>
          <a:ln/>
        </p:spPr>
      </p:sp>
      <p:sp>
        <p:nvSpPr>
          <p:cNvPr id="3" name="Text 0"/>
          <p:cNvSpPr/>
          <p:nvPr>
            <p:ph idx="100" type="title" hasCustomPrompt="1"/>
          </p:nvPr>
        </p:nvSpPr>
        <p:spPr>
          <a:xfrm>
            <a:off x="365760" y="201168"/>
            <a:ext cx="8412480" cy="566928"/>
          </a:xfrm>
          <a:prstGeom prst="rect">
            <a:avLst/>
          </a:prstGeom>
          <a:noFill/>
          <a:ln/>
        </p:spPr>
        <p:txBody>
          <a:bodyPr wrap="square" lIns="0" tIns="0" rIns="0" bIns="0" rtlCol="0" anchor="ctr"/>
          <a:lstStyle/>
          <a:p>
            <a:pPr algn="l" indent="0" marL="0">
              <a:buNone/>
            </a:pPr>
            <a:r>
              <a:rPr lang="en-US" sz="2800" b="1" dirty="0">
                <a:solidFill>
                  <a:schemeClr val="tx1"/>
                </a:solidFill>
              </a:rPr>
              <a:t>Proposed Solution &amp; Methodology</a:t>
            </a:r>
            <a:endParaRPr lang="en-US" sz="2800" dirty="0"/>
          </a:p>
        </p:txBody>
      </p:sp>
      <p:sp>
        <p:nvSpPr>
          <p:cNvPr id="4" name="Step 1"/>
          <p:cNvSpPr/>
          <p:nvPr/>
        </p:nvSpPr>
        <p:spPr>
          <a:xfrm>
            <a:off x="365760"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5" name="Image 0" descr="User enters URL">    </p:cNvPr>
          <p:cNvPicPr>
            <a:picLocks noChangeAspect="1"/>
          </p:cNvPicPr>
          <p:nvPr/>
        </p:nvPicPr>
        <p:blipFill>
          <a:blip r:embed="rId1"/>
          <a:stretch>
            <a:fillRect/>
          </a:stretch>
        </p:blipFill>
        <p:spPr>
          <a:xfrm>
            <a:off x="777240" y="1005840"/>
            <a:ext cx="256032" cy="256032"/>
          </a:xfrm>
          <a:prstGeom prst="rect">
            <a:avLst/>
          </a:prstGeom>
        </p:spPr>
      </p:pic>
      <p:sp>
        <p:nvSpPr>
          <p:cNvPr id="6" name="Step label 1"/>
          <p:cNvSpPr txBox="1"/>
          <p:nvPr/>
        </p:nvSpPr>
        <p:spPr>
          <a:xfrm>
            <a:off x="411480"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User enters URL</a:t>
            </a:r>
            <a:endParaRPr lang="en-US" sz="1100" dirty="0"/>
          </a:p>
        </p:txBody>
      </p:sp>
      <p:sp>
        <p:nvSpPr>
          <p:cNvPr id="7" name="Arrow"/>
          <p:cNvSpPr/>
          <p:nvPr/>
        </p:nvSpPr>
        <p:spPr>
          <a:xfrm>
            <a:off x="1440180" y="1353312"/>
            <a:ext cx="155448" cy="146304"/>
          </a:xfrm>
          <a:prstGeom prst="rightArrow">
            <a:avLst/>
          </a:prstGeom>
          <a:solidFill>
            <a:schemeClr val="accent1"/>
          </a:solidFill>
          <a:ln/>
        </p:spPr>
      </p:sp>
      <p:sp>
        <p:nvSpPr>
          <p:cNvPr id="8" name="Step 2"/>
          <p:cNvSpPr/>
          <p:nvPr/>
        </p:nvSpPr>
        <p:spPr>
          <a:xfrm>
            <a:off x="1588313"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9" name="Image 1" descr="URL Preprocessing">    </p:cNvPr>
          <p:cNvPicPr>
            <a:picLocks noChangeAspect="1"/>
          </p:cNvPicPr>
          <p:nvPr/>
        </p:nvPicPr>
        <p:blipFill>
          <a:blip r:embed="rId2"/>
          <a:stretch>
            <a:fillRect/>
          </a:stretch>
        </p:blipFill>
        <p:spPr>
          <a:xfrm>
            <a:off x="1999793" y="1005840"/>
            <a:ext cx="256032" cy="256032"/>
          </a:xfrm>
          <a:prstGeom prst="rect">
            <a:avLst/>
          </a:prstGeom>
        </p:spPr>
      </p:pic>
      <p:sp>
        <p:nvSpPr>
          <p:cNvPr id="10" name="Step label 2"/>
          <p:cNvSpPr txBox="1"/>
          <p:nvPr/>
        </p:nvSpPr>
        <p:spPr>
          <a:xfrm>
            <a:off x="1634033"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URL Preprocessing</a:t>
            </a:r>
            <a:endParaRPr lang="en-US" sz="1100" dirty="0"/>
          </a:p>
        </p:txBody>
      </p:sp>
      <p:sp>
        <p:nvSpPr>
          <p:cNvPr id="11" name="Arrow"/>
          <p:cNvSpPr/>
          <p:nvPr/>
        </p:nvSpPr>
        <p:spPr>
          <a:xfrm>
            <a:off x="2662733" y="1353312"/>
            <a:ext cx="155448" cy="146304"/>
          </a:xfrm>
          <a:prstGeom prst="rightArrow">
            <a:avLst/>
          </a:prstGeom>
          <a:solidFill>
            <a:schemeClr val="accent1"/>
          </a:solidFill>
          <a:ln/>
        </p:spPr>
      </p:sp>
      <p:sp>
        <p:nvSpPr>
          <p:cNvPr id="12" name="Step 3"/>
          <p:cNvSpPr/>
          <p:nvPr/>
        </p:nvSpPr>
        <p:spPr>
          <a:xfrm>
            <a:off x="2810866"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13" name="Image 2" descr="Feature Extraction">    </p:cNvPr>
          <p:cNvPicPr>
            <a:picLocks noChangeAspect="1"/>
          </p:cNvPicPr>
          <p:nvPr/>
        </p:nvPicPr>
        <p:blipFill>
          <a:blip r:embed="rId3"/>
          <a:stretch>
            <a:fillRect/>
          </a:stretch>
        </p:blipFill>
        <p:spPr>
          <a:xfrm>
            <a:off x="3222346" y="1005840"/>
            <a:ext cx="256032" cy="256032"/>
          </a:xfrm>
          <a:prstGeom prst="rect">
            <a:avLst/>
          </a:prstGeom>
        </p:spPr>
      </p:pic>
      <p:sp>
        <p:nvSpPr>
          <p:cNvPr id="14" name="Step label 3"/>
          <p:cNvSpPr txBox="1"/>
          <p:nvPr/>
        </p:nvSpPr>
        <p:spPr>
          <a:xfrm>
            <a:off x="2856586"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Feature Extraction</a:t>
            </a:r>
            <a:endParaRPr lang="en-US" sz="1100" dirty="0"/>
          </a:p>
        </p:txBody>
      </p:sp>
      <p:sp>
        <p:nvSpPr>
          <p:cNvPr id="15" name="Arrow"/>
          <p:cNvSpPr/>
          <p:nvPr/>
        </p:nvSpPr>
        <p:spPr>
          <a:xfrm>
            <a:off x="3885286" y="1353312"/>
            <a:ext cx="155448" cy="146304"/>
          </a:xfrm>
          <a:prstGeom prst="rightArrow">
            <a:avLst/>
          </a:prstGeom>
          <a:solidFill>
            <a:schemeClr val="accent1"/>
          </a:solidFill>
          <a:ln/>
        </p:spPr>
      </p:sp>
      <p:sp>
        <p:nvSpPr>
          <p:cNvPr id="16" name="Step 4"/>
          <p:cNvSpPr/>
          <p:nvPr/>
        </p:nvSpPr>
        <p:spPr>
          <a:xfrm>
            <a:off x="4033418"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17" name="Image 3" descr="15 URL Features">    </p:cNvPr>
          <p:cNvPicPr>
            <a:picLocks noChangeAspect="1"/>
          </p:cNvPicPr>
          <p:nvPr/>
        </p:nvPicPr>
        <p:blipFill>
          <a:blip r:embed="rId4"/>
          <a:stretch>
            <a:fillRect/>
          </a:stretch>
        </p:blipFill>
        <p:spPr>
          <a:xfrm>
            <a:off x="4444898" y="1005840"/>
            <a:ext cx="256032" cy="256032"/>
          </a:xfrm>
          <a:prstGeom prst="rect">
            <a:avLst/>
          </a:prstGeom>
        </p:spPr>
      </p:pic>
      <p:sp>
        <p:nvSpPr>
          <p:cNvPr id="18" name="Step label 4"/>
          <p:cNvSpPr txBox="1"/>
          <p:nvPr/>
        </p:nvSpPr>
        <p:spPr>
          <a:xfrm>
            <a:off x="4079138"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15 URL Features</a:t>
            </a:r>
            <a:endParaRPr lang="en-US" sz="1100" dirty="0"/>
          </a:p>
        </p:txBody>
      </p:sp>
      <p:sp>
        <p:nvSpPr>
          <p:cNvPr id="19" name="Arrow"/>
          <p:cNvSpPr/>
          <p:nvPr/>
        </p:nvSpPr>
        <p:spPr>
          <a:xfrm>
            <a:off x="5107838" y="1353312"/>
            <a:ext cx="155448" cy="146304"/>
          </a:xfrm>
          <a:prstGeom prst="rightArrow">
            <a:avLst/>
          </a:prstGeom>
          <a:solidFill>
            <a:schemeClr val="accent1"/>
          </a:solidFill>
          <a:ln/>
        </p:spPr>
      </p:sp>
      <p:sp>
        <p:nvSpPr>
          <p:cNvPr id="20" name="Step 5"/>
          <p:cNvSpPr/>
          <p:nvPr/>
        </p:nvSpPr>
        <p:spPr>
          <a:xfrm>
            <a:off x="5255971" y="914400"/>
            <a:ext cx="1078992" cy="1024128"/>
          </a:xfrm>
          <a:prstGeom prst="roundRect">
            <a:avLst>
              <a:gd name="adj" fmla="val 7143"/>
            </a:avLst>
          </a:prstGeom>
          <a:solidFill>
            <a:schemeClr val="bg2"/>
          </a:solidFill>
          <a:ln w="19050">
            <a:solidFill>
              <a:schemeClr val="accent1"/>
            </a:solidFill>
            <a:prstDash val="solid"/>
          </a:ln>
        </p:spPr>
      </p:sp>
      <p:pic>
        <p:nvPicPr>
          <p:cNvPr id="21" name="Image 4" descr="Random Forest">    </p:cNvPr>
          <p:cNvPicPr>
            <a:picLocks noChangeAspect="1"/>
          </p:cNvPicPr>
          <p:nvPr/>
        </p:nvPicPr>
        <p:blipFill>
          <a:blip r:embed="rId5"/>
          <a:stretch>
            <a:fillRect/>
          </a:stretch>
        </p:blipFill>
        <p:spPr>
          <a:xfrm>
            <a:off x="5667451" y="1005840"/>
            <a:ext cx="256032" cy="256032"/>
          </a:xfrm>
          <a:prstGeom prst="rect">
            <a:avLst/>
          </a:prstGeom>
        </p:spPr>
      </p:pic>
      <p:sp>
        <p:nvSpPr>
          <p:cNvPr id="22" name="Step label 5"/>
          <p:cNvSpPr txBox="1"/>
          <p:nvPr/>
        </p:nvSpPr>
        <p:spPr>
          <a:xfrm>
            <a:off x="5301691"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Random Forest</a:t>
            </a:r>
            <a:endParaRPr lang="en-US" sz="1100" dirty="0"/>
          </a:p>
        </p:txBody>
      </p:sp>
      <p:sp>
        <p:nvSpPr>
          <p:cNvPr id="23" name="Arrow"/>
          <p:cNvSpPr/>
          <p:nvPr/>
        </p:nvSpPr>
        <p:spPr>
          <a:xfrm>
            <a:off x="6330391" y="1353312"/>
            <a:ext cx="155448" cy="146304"/>
          </a:xfrm>
          <a:prstGeom prst="rightArrow">
            <a:avLst/>
          </a:prstGeom>
          <a:solidFill>
            <a:schemeClr val="accent1"/>
          </a:solidFill>
          <a:ln/>
        </p:spPr>
      </p:sp>
      <p:sp>
        <p:nvSpPr>
          <p:cNvPr id="24" name="Step 6"/>
          <p:cNvSpPr/>
          <p:nvPr/>
        </p:nvSpPr>
        <p:spPr>
          <a:xfrm>
            <a:off x="6478524"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25" name="Image 5" descr="Prediction">    </p:cNvPr>
          <p:cNvPicPr>
            <a:picLocks noChangeAspect="1"/>
          </p:cNvPicPr>
          <p:nvPr/>
        </p:nvPicPr>
        <p:blipFill>
          <a:blip r:embed="rId6"/>
          <a:stretch>
            <a:fillRect/>
          </a:stretch>
        </p:blipFill>
        <p:spPr>
          <a:xfrm>
            <a:off x="6890004" y="1005840"/>
            <a:ext cx="256032" cy="256032"/>
          </a:xfrm>
          <a:prstGeom prst="rect">
            <a:avLst/>
          </a:prstGeom>
        </p:spPr>
      </p:pic>
      <p:sp>
        <p:nvSpPr>
          <p:cNvPr id="26" name="Step label 6"/>
          <p:cNvSpPr txBox="1"/>
          <p:nvPr/>
        </p:nvSpPr>
        <p:spPr>
          <a:xfrm>
            <a:off x="6524244"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Prediction</a:t>
            </a:r>
            <a:endParaRPr lang="en-US" sz="1100" dirty="0"/>
          </a:p>
        </p:txBody>
      </p:sp>
      <p:sp>
        <p:nvSpPr>
          <p:cNvPr id="27" name="Arrow"/>
          <p:cNvSpPr/>
          <p:nvPr/>
        </p:nvSpPr>
        <p:spPr>
          <a:xfrm>
            <a:off x="7552944" y="1353312"/>
            <a:ext cx="155448" cy="146304"/>
          </a:xfrm>
          <a:prstGeom prst="rightArrow">
            <a:avLst/>
          </a:prstGeom>
          <a:solidFill>
            <a:schemeClr val="accent1"/>
          </a:solidFill>
          <a:ln/>
        </p:spPr>
      </p:sp>
      <p:sp>
        <p:nvSpPr>
          <p:cNvPr id="28" name="Step 7"/>
          <p:cNvSpPr/>
          <p:nvPr/>
        </p:nvSpPr>
        <p:spPr>
          <a:xfrm>
            <a:off x="7701077" y="914400"/>
            <a:ext cx="1078992" cy="1024128"/>
          </a:xfrm>
          <a:prstGeom prst="roundRect">
            <a:avLst>
              <a:gd name="adj" fmla="val 7143"/>
            </a:avLst>
          </a:prstGeom>
          <a:solidFill>
            <a:schemeClr val="bg2"/>
          </a:solidFill>
          <a:ln w="9525">
            <a:solidFill>
              <a:schemeClr val="accent2">
                <a:alpha val="40000"/>
              </a:schemeClr>
            </a:solidFill>
            <a:prstDash val="solid"/>
          </a:ln>
        </p:spPr>
      </p:sp>
      <p:pic>
        <p:nvPicPr>
          <p:cNvPr id="29" name="Image 6" descr="Risk + Confidence + Explainability">    </p:cNvPr>
          <p:cNvPicPr>
            <a:picLocks noChangeAspect="1"/>
          </p:cNvPicPr>
          <p:nvPr/>
        </p:nvPicPr>
        <p:blipFill>
          <a:blip r:embed="rId7"/>
          <a:stretch>
            <a:fillRect/>
          </a:stretch>
        </p:blipFill>
        <p:spPr>
          <a:xfrm>
            <a:off x="8112557" y="1005840"/>
            <a:ext cx="256032" cy="256032"/>
          </a:xfrm>
          <a:prstGeom prst="rect">
            <a:avLst/>
          </a:prstGeom>
        </p:spPr>
      </p:pic>
      <p:sp>
        <p:nvSpPr>
          <p:cNvPr id="30" name="Step label 7"/>
          <p:cNvSpPr txBox="1"/>
          <p:nvPr/>
        </p:nvSpPr>
        <p:spPr>
          <a:xfrm>
            <a:off x="7746797" y="1298448"/>
            <a:ext cx="987552" cy="585216"/>
          </a:xfrm>
          <a:prstGeom prst="rect">
            <a:avLst/>
          </a:prstGeom>
          <a:noFill/>
          <a:ln/>
        </p:spPr>
        <p:txBody>
          <a:bodyPr wrap="square" lIns="0" tIns="0" rIns="0" bIns="0" rtlCol="0" anchor="t"/>
          <a:lstStyle/>
          <a:p>
            <a:pPr algn="ctr" indent="0" marL="0">
              <a:buNone/>
            </a:pPr>
            <a:r>
              <a:rPr lang="en-US" sz="1100" b="1" dirty="0">
                <a:solidFill>
                  <a:schemeClr val="tx1"/>
                </a:solidFill>
              </a:rPr>
              <a:t>Risk + Confidence + Explainability</a:t>
            </a:r>
            <a:endParaRPr lang="en-US" sz="1100" dirty="0"/>
          </a:p>
        </p:txBody>
      </p:sp>
      <p:sp>
        <p:nvSpPr>
          <p:cNvPr id="31" name="Why RF panel"/>
          <p:cNvSpPr/>
          <p:nvPr/>
        </p:nvSpPr>
        <p:spPr>
          <a:xfrm>
            <a:off x="365760" y="2103120"/>
            <a:ext cx="4114800" cy="2331720"/>
          </a:xfrm>
          <a:prstGeom prst="roundRect">
            <a:avLst>
              <a:gd name="adj" fmla="val 3137"/>
            </a:avLst>
          </a:prstGeom>
          <a:solidFill>
            <a:schemeClr val="bg2"/>
          </a:solidFill>
          <a:ln w="9525">
            <a:solidFill>
              <a:schemeClr val="accent2">
                <a:alpha val="40000"/>
              </a:schemeClr>
            </a:solidFill>
            <a:prstDash val="solid"/>
          </a:ln>
        </p:spPr>
      </p:sp>
      <p:sp>
        <p:nvSpPr>
          <p:cNvPr id="32" name="Why RF heading"/>
          <p:cNvSpPr txBox="1"/>
          <p:nvPr/>
        </p:nvSpPr>
        <p:spPr>
          <a:xfrm>
            <a:off x="548640" y="2194560"/>
            <a:ext cx="3749040" cy="274320"/>
          </a:xfrm>
          <a:prstGeom prst="rect">
            <a:avLst/>
          </a:prstGeom>
          <a:noFill/>
          <a:ln/>
        </p:spPr>
        <p:txBody>
          <a:bodyPr wrap="square" lIns="0" tIns="0" rIns="0" bIns="0" rtlCol="0" anchor="ctr"/>
          <a:lstStyle/>
          <a:p>
            <a:pPr indent="0" marL="0">
              <a:buNone/>
            </a:pPr>
            <a:r>
              <a:rPr lang="en-US" sz="1500" b="1" dirty="0">
                <a:solidFill>
                  <a:schemeClr val="accent1"/>
                </a:solidFill>
              </a:rPr>
              <a:t>Why Random Forest?</a:t>
            </a:r>
            <a:endParaRPr lang="en-US" sz="1500" dirty="0"/>
          </a:p>
        </p:txBody>
      </p:sp>
      <p:sp>
        <p:nvSpPr>
          <p:cNvPr id="33" name="Tree Tree 1"/>
          <p:cNvSpPr/>
          <p:nvPr/>
        </p:nvSpPr>
        <p:spPr>
          <a:xfrm>
            <a:off x="548640" y="2560320"/>
            <a:ext cx="640080" cy="292608"/>
          </a:xfrm>
          <a:prstGeom prst="roundRect">
            <a:avLst>
              <a:gd name="adj" fmla="val 18750"/>
            </a:avLst>
          </a:prstGeom>
          <a:solidFill>
            <a:schemeClr val="accent6"/>
          </a:solidFill>
          <a:ln w="9525">
            <a:solidFill>
              <a:schemeClr val="accent1">
                <a:alpha val="60000"/>
              </a:schemeClr>
            </a:solidFill>
            <a:prstDash val="solid"/>
          </a:ln>
        </p:spPr>
      </p:sp>
      <p:sp>
        <p:nvSpPr>
          <p:cNvPr id="34" name="Tree text Tree 1"/>
          <p:cNvSpPr txBox="1"/>
          <p:nvPr/>
        </p:nvSpPr>
        <p:spPr>
          <a:xfrm>
            <a:off x="548640" y="2560320"/>
            <a:ext cx="640080" cy="292608"/>
          </a:xfrm>
          <a:prstGeom prst="rect">
            <a:avLst/>
          </a:prstGeom>
          <a:noFill/>
          <a:ln/>
        </p:spPr>
        <p:txBody>
          <a:bodyPr wrap="square" lIns="0" tIns="0" rIns="0" bIns="0" rtlCol="0" anchor="ctr"/>
          <a:lstStyle/>
          <a:p>
            <a:pPr algn="ctr" indent="0" marL="0">
              <a:buNone/>
            </a:pPr>
            <a:r>
              <a:rPr lang="en-US" sz="1000" dirty="0">
                <a:solidFill>
                  <a:schemeClr val="tx1"/>
                </a:solidFill>
              </a:rPr>
              <a:t>Tree 1</a:t>
            </a:r>
            <a:endParaRPr lang="en-US" sz="1000" dirty="0"/>
          </a:p>
        </p:txBody>
      </p:sp>
      <p:sp>
        <p:nvSpPr>
          <p:cNvPr id="35" name="Tree Tree 2"/>
          <p:cNvSpPr/>
          <p:nvPr/>
        </p:nvSpPr>
        <p:spPr>
          <a:xfrm>
            <a:off x="1280160" y="2560320"/>
            <a:ext cx="640080" cy="292608"/>
          </a:xfrm>
          <a:prstGeom prst="roundRect">
            <a:avLst>
              <a:gd name="adj" fmla="val 18750"/>
            </a:avLst>
          </a:prstGeom>
          <a:solidFill>
            <a:schemeClr val="accent6"/>
          </a:solidFill>
          <a:ln w="9525">
            <a:solidFill>
              <a:schemeClr val="accent1">
                <a:alpha val="60000"/>
              </a:schemeClr>
            </a:solidFill>
            <a:prstDash val="solid"/>
          </a:ln>
        </p:spPr>
      </p:sp>
      <p:sp>
        <p:nvSpPr>
          <p:cNvPr id="36" name="Tree text Tree 2"/>
          <p:cNvSpPr txBox="1"/>
          <p:nvPr/>
        </p:nvSpPr>
        <p:spPr>
          <a:xfrm>
            <a:off x="1280160" y="2560320"/>
            <a:ext cx="640080" cy="292608"/>
          </a:xfrm>
          <a:prstGeom prst="rect">
            <a:avLst/>
          </a:prstGeom>
          <a:noFill/>
          <a:ln/>
        </p:spPr>
        <p:txBody>
          <a:bodyPr wrap="square" lIns="0" tIns="0" rIns="0" bIns="0" rtlCol="0" anchor="ctr"/>
          <a:lstStyle/>
          <a:p>
            <a:pPr algn="ctr" indent="0" marL="0">
              <a:buNone/>
            </a:pPr>
            <a:r>
              <a:rPr lang="en-US" sz="1000" dirty="0">
                <a:solidFill>
                  <a:schemeClr val="tx1"/>
                </a:solidFill>
              </a:rPr>
              <a:t>Tree 2</a:t>
            </a:r>
            <a:endParaRPr lang="en-US" sz="1000" dirty="0"/>
          </a:p>
        </p:txBody>
      </p:sp>
      <p:sp>
        <p:nvSpPr>
          <p:cNvPr id="37" name="Tree Tree 3"/>
          <p:cNvSpPr/>
          <p:nvPr/>
        </p:nvSpPr>
        <p:spPr>
          <a:xfrm>
            <a:off x="2011680" y="2560320"/>
            <a:ext cx="640080" cy="292608"/>
          </a:xfrm>
          <a:prstGeom prst="roundRect">
            <a:avLst>
              <a:gd name="adj" fmla="val 18750"/>
            </a:avLst>
          </a:prstGeom>
          <a:solidFill>
            <a:schemeClr val="accent6"/>
          </a:solidFill>
          <a:ln w="9525">
            <a:solidFill>
              <a:schemeClr val="accent1">
                <a:alpha val="60000"/>
              </a:schemeClr>
            </a:solidFill>
            <a:prstDash val="solid"/>
          </a:ln>
        </p:spPr>
      </p:sp>
      <p:sp>
        <p:nvSpPr>
          <p:cNvPr id="38" name="Tree text Tree 3"/>
          <p:cNvSpPr txBox="1"/>
          <p:nvPr/>
        </p:nvSpPr>
        <p:spPr>
          <a:xfrm>
            <a:off x="2011680" y="2560320"/>
            <a:ext cx="640080" cy="292608"/>
          </a:xfrm>
          <a:prstGeom prst="rect">
            <a:avLst/>
          </a:prstGeom>
          <a:noFill/>
          <a:ln/>
        </p:spPr>
        <p:txBody>
          <a:bodyPr wrap="square" lIns="0" tIns="0" rIns="0" bIns="0" rtlCol="0" anchor="ctr"/>
          <a:lstStyle/>
          <a:p>
            <a:pPr algn="ctr" indent="0" marL="0">
              <a:buNone/>
            </a:pPr>
            <a:r>
              <a:rPr lang="en-US" sz="1000" dirty="0">
                <a:solidFill>
                  <a:schemeClr val="tx1"/>
                </a:solidFill>
              </a:rPr>
              <a:t>Tree 3</a:t>
            </a:r>
            <a:endParaRPr lang="en-US" sz="1000" dirty="0"/>
          </a:p>
        </p:txBody>
      </p:sp>
      <p:sp>
        <p:nvSpPr>
          <p:cNvPr id="39" name="Tree ..."/>
          <p:cNvSpPr/>
          <p:nvPr/>
        </p:nvSpPr>
        <p:spPr>
          <a:xfrm>
            <a:off x="2743200" y="2560320"/>
            <a:ext cx="640080" cy="292608"/>
          </a:xfrm>
          <a:prstGeom prst="roundRect">
            <a:avLst>
              <a:gd name="adj" fmla="val 18750"/>
            </a:avLst>
          </a:prstGeom>
          <a:solidFill>
            <a:schemeClr val="accent6"/>
          </a:solidFill>
          <a:ln w="9525">
            <a:solidFill>
              <a:schemeClr val="accent1">
                <a:alpha val="60000"/>
              </a:schemeClr>
            </a:solidFill>
            <a:prstDash val="solid"/>
          </a:ln>
        </p:spPr>
      </p:sp>
      <p:sp>
        <p:nvSpPr>
          <p:cNvPr id="40" name="Tree text ..."/>
          <p:cNvSpPr txBox="1"/>
          <p:nvPr/>
        </p:nvSpPr>
        <p:spPr>
          <a:xfrm>
            <a:off x="2743200" y="2560320"/>
            <a:ext cx="640080" cy="292608"/>
          </a:xfrm>
          <a:prstGeom prst="rect">
            <a:avLst/>
          </a:prstGeom>
          <a:noFill/>
          <a:ln/>
        </p:spPr>
        <p:txBody>
          <a:bodyPr wrap="square" lIns="0" tIns="0" rIns="0" bIns="0" rtlCol="0" anchor="ctr"/>
          <a:lstStyle/>
          <a:p>
            <a:pPr algn="ctr" indent="0" marL="0">
              <a:buNone/>
            </a:pPr>
            <a:r>
              <a:rPr lang="en-US" sz="1000" dirty="0">
                <a:solidFill>
                  <a:schemeClr val="tx1"/>
                </a:solidFill>
              </a:rPr>
              <a:t>...</a:t>
            </a:r>
            <a:endParaRPr lang="en-US" sz="1000" dirty="0"/>
          </a:p>
        </p:txBody>
      </p:sp>
      <p:sp>
        <p:nvSpPr>
          <p:cNvPr id="41" name="Tree Tree 100"/>
          <p:cNvSpPr/>
          <p:nvPr/>
        </p:nvSpPr>
        <p:spPr>
          <a:xfrm>
            <a:off x="3474720" y="2560320"/>
            <a:ext cx="640080" cy="292608"/>
          </a:xfrm>
          <a:prstGeom prst="roundRect">
            <a:avLst>
              <a:gd name="adj" fmla="val 18750"/>
            </a:avLst>
          </a:prstGeom>
          <a:solidFill>
            <a:schemeClr val="accent6"/>
          </a:solidFill>
          <a:ln w="9525">
            <a:solidFill>
              <a:schemeClr val="accent1">
                <a:alpha val="60000"/>
              </a:schemeClr>
            </a:solidFill>
            <a:prstDash val="solid"/>
          </a:ln>
        </p:spPr>
      </p:sp>
      <p:sp>
        <p:nvSpPr>
          <p:cNvPr id="42" name="Tree text Tree 100"/>
          <p:cNvSpPr txBox="1"/>
          <p:nvPr/>
        </p:nvSpPr>
        <p:spPr>
          <a:xfrm>
            <a:off x="3474720" y="2560320"/>
            <a:ext cx="640080" cy="292608"/>
          </a:xfrm>
          <a:prstGeom prst="rect">
            <a:avLst/>
          </a:prstGeom>
          <a:noFill/>
          <a:ln/>
        </p:spPr>
        <p:txBody>
          <a:bodyPr wrap="square" lIns="0" tIns="0" rIns="0" bIns="0" rtlCol="0" anchor="ctr"/>
          <a:lstStyle/>
          <a:p>
            <a:pPr algn="ctr" indent="0" marL="0">
              <a:buNone/>
            </a:pPr>
            <a:r>
              <a:rPr lang="en-US" sz="1000" dirty="0">
                <a:solidFill>
                  <a:schemeClr val="tx1"/>
                </a:solidFill>
              </a:rPr>
              <a:t>Tree 100</a:t>
            </a:r>
            <a:endParaRPr lang="en-US" sz="1000" dirty="0"/>
          </a:p>
        </p:txBody>
      </p:sp>
      <p:sp>
        <p:nvSpPr>
          <p:cNvPr id="43" name="Down arrow"/>
          <p:cNvSpPr/>
          <p:nvPr/>
        </p:nvSpPr>
        <p:spPr>
          <a:xfrm>
            <a:off x="2286000" y="2880360"/>
            <a:ext cx="182880" cy="164592"/>
          </a:xfrm>
          <a:prstGeom prst="downArrow">
            <a:avLst/>
          </a:prstGeom>
          <a:solidFill>
            <a:schemeClr val="accent1"/>
          </a:solidFill>
          <a:ln/>
        </p:spPr>
      </p:sp>
      <p:sp>
        <p:nvSpPr>
          <p:cNvPr id="44" name="Vote"/>
          <p:cNvSpPr/>
          <p:nvPr/>
        </p:nvSpPr>
        <p:spPr>
          <a:xfrm>
            <a:off x="1554480" y="3072384"/>
            <a:ext cx="1645920" cy="292608"/>
          </a:xfrm>
          <a:prstGeom prst="roundRect">
            <a:avLst>
              <a:gd name="adj" fmla="val 25000"/>
            </a:avLst>
          </a:prstGeom>
          <a:solidFill>
            <a:schemeClr val="accent1">
              <a:alpha val="20000"/>
            </a:schemeClr>
          </a:solidFill>
          <a:ln w="12700">
            <a:solidFill>
              <a:schemeClr val="accent1"/>
            </a:solidFill>
            <a:prstDash val="solid"/>
          </a:ln>
        </p:spPr>
      </p:sp>
      <p:sp>
        <p:nvSpPr>
          <p:cNvPr id="45" name="Vote text"/>
          <p:cNvSpPr txBox="1"/>
          <p:nvPr/>
        </p:nvSpPr>
        <p:spPr>
          <a:xfrm>
            <a:off x="1554480" y="3072384"/>
            <a:ext cx="1645920" cy="292608"/>
          </a:xfrm>
          <a:prstGeom prst="rect">
            <a:avLst/>
          </a:prstGeom>
          <a:noFill/>
          <a:ln/>
        </p:spPr>
        <p:txBody>
          <a:bodyPr wrap="square" lIns="0" tIns="0" rIns="0" bIns="0" rtlCol="0" anchor="ctr"/>
          <a:lstStyle/>
          <a:p>
            <a:pPr algn="ctr" indent="0" marL="0">
              <a:buNone/>
            </a:pPr>
            <a:r>
              <a:rPr lang="en-US" sz="1100" b="1" dirty="0">
                <a:solidFill>
                  <a:schemeClr val="tx1"/>
                </a:solidFill>
              </a:rPr>
              <a:t>Majority vote</a:t>
            </a:r>
            <a:endParaRPr lang="en-US" sz="1100" dirty="0"/>
          </a:p>
        </p:txBody>
      </p:sp>
      <p:pic>
        <p:nvPicPr>
          <p:cNvPr id="46" name="Image 7" descr="Bagging reduces overfitting">    </p:cNvPr>
          <p:cNvPicPr>
            <a:picLocks noChangeAspect="1"/>
          </p:cNvPicPr>
          <p:nvPr/>
        </p:nvPicPr>
        <p:blipFill>
          <a:blip r:embed="rId8"/>
          <a:stretch>
            <a:fillRect/>
          </a:stretch>
        </p:blipFill>
        <p:spPr>
          <a:xfrm>
            <a:off x="548640" y="3529584"/>
            <a:ext cx="182880" cy="182880"/>
          </a:xfrm>
          <a:prstGeom prst="rect">
            <a:avLst/>
          </a:prstGeom>
        </p:spPr>
      </p:pic>
      <p:sp>
        <p:nvSpPr>
          <p:cNvPr id="47" name="Why 1"/>
          <p:cNvSpPr txBox="1"/>
          <p:nvPr/>
        </p:nvSpPr>
        <p:spPr>
          <a:xfrm>
            <a:off x="841248" y="3493008"/>
            <a:ext cx="3474720" cy="256032"/>
          </a:xfrm>
          <a:prstGeom prst="rect">
            <a:avLst/>
          </a:prstGeom>
          <a:noFill/>
          <a:ln/>
        </p:spPr>
        <p:txBody>
          <a:bodyPr wrap="square" lIns="0" tIns="0" rIns="0" bIns="0" rtlCol="0" anchor="ctr"/>
          <a:lstStyle/>
          <a:p>
            <a:pPr indent="0" marL="0">
              <a:buNone/>
            </a:pPr>
            <a:r>
              <a:rPr lang="en-US" sz="1200" dirty="0">
                <a:solidFill>
                  <a:schemeClr val="tx1"/>
                </a:solidFill>
              </a:rPr>
              <a:t>Bagging reduces overfitting</a:t>
            </a:r>
            <a:endParaRPr lang="en-US" sz="1200" dirty="0"/>
          </a:p>
        </p:txBody>
      </p:sp>
      <p:pic>
        <p:nvPicPr>
          <p:cNvPr id="48" name="Image 8" descr="Handles non-linear feature interactions">    </p:cNvPr>
          <p:cNvPicPr>
            <a:picLocks noChangeAspect="1"/>
          </p:cNvPicPr>
          <p:nvPr/>
        </p:nvPicPr>
        <p:blipFill>
          <a:blip r:embed="rId9"/>
          <a:stretch>
            <a:fillRect/>
          </a:stretch>
        </p:blipFill>
        <p:spPr>
          <a:xfrm>
            <a:off x="548640" y="3822192"/>
            <a:ext cx="182880" cy="182880"/>
          </a:xfrm>
          <a:prstGeom prst="rect">
            <a:avLst/>
          </a:prstGeom>
        </p:spPr>
      </p:pic>
      <p:sp>
        <p:nvSpPr>
          <p:cNvPr id="49" name="Why 2"/>
          <p:cNvSpPr txBox="1"/>
          <p:nvPr/>
        </p:nvSpPr>
        <p:spPr>
          <a:xfrm>
            <a:off x="841248" y="3785616"/>
            <a:ext cx="3474720" cy="256032"/>
          </a:xfrm>
          <a:prstGeom prst="rect">
            <a:avLst/>
          </a:prstGeom>
          <a:noFill/>
          <a:ln/>
        </p:spPr>
        <p:txBody>
          <a:bodyPr wrap="square" lIns="0" tIns="0" rIns="0" bIns="0" rtlCol="0" anchor="ctr"/>
          <a:lstStyle/>
          <a:p>
            <a:pPr indent="0" marL="0">
              <a:buNone/>
            </a:pPr>
            <a:r>
              <a:rPr lang="en-US" sz="1200" dirty="0">
                <a:solidFill>
                  <a:schemeClr val="tx1"/>
                </a:solidFill>
              </a:rPr>
              <a:t>Handles non-linear feature interactions</a:t>
            </a:r>
            <a:endParaRPr lang="en-US" sz="1200" dirty="0"/>
          </a:p>
        </p:txBody>
      </p:sp>
      <p:pic>
        <p:nvPicPr>
          <p:cNvPr id="50" name="Image 9" descr="Gini importance explains predictions">    </p:cNvPr>
          <p:cNvPicPr>
            <a:picLocks noChangeAspect="1"/>
          </p:cNvPicPr>
          <p:nvPr/>
        </p:nvPicPr>
        <p:blipFill>
          <a:blip r:embed="rId10"/>
          <a:stretch>
            <a:fillRect/>
          </a:stretch>
        </p:blipFill>
        <p:spPr>
          <a:xfrm>
            <a:off x="548640" y="4114800"/>
            <a:ext cx="182880" cy="182880"/>
          </a:xfrm>
          <a:prstGeom prst="rect">
            <a:avLst/>
          </a:prstGeom>
        </p:spPr>
      </p:pic>
      <p:sp>
        <p:nvSpPr>
          <p:cNvPr id="51" name="Why 3"/>
          <p:cNvSpPr txBox="1"/>
          <p:nvPr/>
        </p:nvSpPr>
        <p:spPr>
          <a:xfrm>
            <a:off x="841248" y="4078224"/>
            <a:ext cx="3474720" cy="256032"/>
          </a:xfrm>
          <a:prstGeom prst="rect">
            <a:avLst/>
          </a:prstGeom>
          <a:noFill/>
          <a:ln/>
        </p:spPr>
        <p:txBody>
          <a:bodyPr wrap="square" lIns="0" tIns="0" rIns="0" bIns="0" rtlCol="0" anchor="ctr"/>
          <a:lstStyle/>
          <a:p>
            <a:pPr indent="0" marL="0">
              <a:buNone/>
            </a:pPr>
            <a:r>
              <a:rPr lang="en-US" sz="1200" dirty="0">
                <a:solidFill>
                  <a:schemeClr val="tx1"/>
                </a:solidFill>
              </a:rPr>
              <a:t>Gini importance explains predictions</a:t>
            </a:r>
            <a:endParaRPr lang="en-US" sz="1200" dirty="0"/>
          </a:p>
        </p:txBody>
      </p:sp>
      <p:sp>
        <p:nvSpPr>
          <p:cNvPr id="52" name="Right label 1"/>
          <p:cNvSpPr txBox="1"/>
          <p:nvPr/>
        </p:nvSpPr>
        <p:spPr>
          <a:xfrm>
            <a:off x="4663440" y="2103120"/>
            <a:ext cx="4114800" cy="201168"/>
          </a:xfrm>
          <a:prstGeom prst="rect">
            <a:avLst/>
          </a:prstGeom>
          <a:noFill/>
          <a:ln/>
        </p:spPr>
        <p:txBody>
          <a:bodyPr wrap="square" lIns="0" tIns="0" rIns="0" bIns="0" rtlCol="0" anchor="ctr"/>
          <a:lstStyle/>
          <a:p>
            <a:pPr indent="0" marL="0">
              <a:buNone/>
            </a:pPr>
            <a:r>
              <a:rPr lang="en-US" sz="1100" dirty="0">
                <a:solidFill>
                  <a:schemeClr val="tx2"/>
                </a:solidFill>
              </a:rPr>
              <a:t>Feature groups (from our website)</a:t>
            </a:r>
            <a:endParaRPr lang="en-US" sz="1100" dirty="0"/>
          </a:p>
        </p:txBody>
      </p:sp>
      <p:pic>
        <p:nvPicPr>
          <p:cNvPr id="53" name="Image 10" descr="Feature extraction phases on the PhishGuard AI website (real screenshot)">    </p:cNvPr>
          <p:cNvPicPr>
            <a:picLocks noChangeAspect="1"/>
          </p:cNvPicPr>
          <p:nvPr/>
        </p:nvPicPr>
        <p:blipFill>
          <a:blip r:embed="rId11"/>
          <a:stretch>
            <a:fillRect/>
          </a:stretch>
        </p:blipFill>
        <p:spPr>
          <a:xfrm>
            <a:off x="4663440" y="2340864"/>
            <a:ext cx="4114800" cy="728663"/>
          </a:xfrm>
          <a:prstGeom prst="rect">
            <a:avLst/>
          </a:prstGeom>
        </p:spPr>
      </p:pic>
      <p:sp>
        <p:nvSpPr>
          <p:cNvPr id="54" name="Right label 2"/>
          <p:cNvSpPr txBox="1"/>
          <p:nvPr/>
        </p:nvSpPr>
        <p:spPr>
          <a:xfrm>
            <a:off x="4663440" y="3200400"/>
            <a:ext cx="4114800" cy="201168"/>
          </a:xfrm>
          <a:prstGeom prst="rect">
            <a:avLst/>
          </a:prstGeom>
          <a:noFill/>
          <a:ln/>
        </p:spPr>
        <p:txBody>
          <a:bodyPr wrap="square" lIns="0" tIns="0" rIns="0" bIns="0" rtlCol="0" anchor="ctr"/>
          <a:lstStyle/>
          <a:p>
            <a:pPr indent="0" marL="0">
              <a:buNone/>
            </a:pPr>
            <a:r>
              <a:rPr lang="en-US" sz="1100" dirty="0">
                <a:solidFill>
                  <a:schemeClr val="tx2"/>
                </a:solidFill>
              </a:rPr>
              <a:t>Top features by Gini importance (Random Forest)</a:t>
            </a:r>
            <a:endParaRPr lang="en-US" sz="1100" dirty="0"/>
          </a:p>
        </p:txBody>
      </p:sp>
      <p:sp>
        <p:nvSpPr>
          <p:cNvPr id="55" name="Feat Slash count"/>
          <p:cNvSpPr txBox="1"/>
          <p:nvPr/>
        </p:nvSpPr>
        <p:spPr>
          <a:xfrm>
            <a:off x="4663440" y="3456432"/>
            <a:ext cx="1463040" cy="201168"/>
          </a:xfrm>
          <a:prstGeom prst="rect">
            <a:avLst/>
          </a:prstGeom>
          <a:noFill/>
          <a:ln/>
        </p:spPr>
        <p:txBody>
          <a:bodyPr wrap="square" lIns="0" tIns="0" rIns="0" bIns="0" rtlCol="0" anchor="ctr"/>
          <a:lstStyle/>
          <a:p>
            <a:pPr indent="0" marL="0">
              <a:buNone/>
            </a:pPr>
            <a:r>
              <a:rPr lang="en-US" sz="1100" dirty="0">
                <a:solidFill>
                  <a:schemeClr val="tx1"/>
                </a:solidFill>
              </a:rPr>
              <a:t>Slash count</a:t>
            </a:r>
            <a:endParaRPr lang="en-US" sz="1100" dirty="0"/>
          </a:p>
        </p:txBody>
      </p:sp>
      <p:sp>
        <p:nvSpPr>
          <p:cNvPr id="56" name="Bar Slash count"/>
          <p:cNvSpPr/>
          <p:nvPr/>
        </p:nvSpPr>
        <p:spPr>
          <a:xfrm>
            <a:off x="6172200" y="3483864"/>
            <a:ext cx="2011680" cy="146304"/>
          </a:xfrm>
          <a:prstGeom prst="rect">
            <a:avLst/>
          </a:prstGeom>
          <a:solidFill>
            <a:schemeClr val="accent2"/>
          </a:solidFill>
          <a:ln/>
        </p:spPr>
      </p:sp>
      <p:sp>
        <p:nvSpPr>
          <p:cNvPr id="57" name="Val Slash count"/>
          <p:cNvSpPr txBox="1"/>
          <p:nvPr/>
        </p:nvSpPr>
        <p:spPr>
          <a:xfrm>
            <a:off x="8257032" y="3456432"/>
            <a:ext cx="640080" cy="201168"/>
          </a:xfrm>
          <a:prstGeom prst="rect">
            <a:avLst/>
          </a:prstGeom>
          <a:noFill/>
          <a:ln/>
        </p:spPr>
        <p:txBody>
          <a:bodyPr wrap="square" lIns="0" tIns="0" rIns="0" bIns="0" rtlCol="0" anchor="ctr"/>
          <a:lstStyle/>
          <a:p>
            <a:pPr indent="0" marL="0">
              <a:buNone/>
            </a:pPr>
            <a:r>
              <a:rPr lang="en-US" sz="1100" b="1" dirty="0">
                <a:solidFill>
                  <a:schemeClr val="accent1"/>
                </a:solidFill>
              </a:rPr>
              <a:t>25.99%</a:t>
            </a:r>
            <a:endParaRPr lang="en-US" sz="1100" dirty="0"/>
          </a:p>
        </p:txBody>
      </p:sp>
      <p:sp>
        <p:nvSpPr>
          <p:cNvPr id="58" name="Feat Suspicious keywords"/>
          <p:cNvSpPr txBox="1"/>
          <p:nvPr/>
        </p:nvSpPr>
        <p:spPr>
          <a:xfrm>
            <a:off x="4663440" y="3703320"/>
            <a:ext cx="1463040" cy="201168"/>
          </a:xfrm>
          <a:prstGeom prst="rect">
            <a:avLst/>
          </a:prstGeom>
          <a:noFill/>
          <a:ln/>
        </p:spPr>
        <p:txBody>
          <a:bodyPr wrap="square" lIns="0" tIns="0" rIns="0" bIns="0" rtlCol="0" anchor="ctr"/>
          <a:lstStyle/>
          <a:p>
            <a:pPr indent="0" marL="0">
              <a:buNone/>
            </a:pPr>
            <a:r>
              <a:rPr lang="en-US" sz="1100" dirty="0">
                <a:solidFill>
                  <a:schemeClr val="tx1"/>
                </a:solidFill>
              </a:rPr>
              <a:t>Suspicious keywords</a:t>
            </a:r>
            <a:endParaRPr lang="en-US" sz="1100" dirty="0"/>
          </a:p>
        </p:txBody>
      </p:sp>
      <p:sp>
        <p:nvSpPr>
          <p:cNvPr id="59" name="Bar Suspicious keywords"/>
          <p:cNvSpPr/>
          <p:nvPr/>
        </p:nvSpPr>
        <p:spPr>
          <a:xfrm>
            <a:off x="6172200" y="3730752"/>
            <a:ext cx="1193540" cy="146304"/>
          </a:xfrm>
          <a:prstGeom prst="rect">
            <a:avLst/>
          </a:prstGeom>
          <a:solidFill>
            <a:schemeClr val="accent2"/>
          </a:solidFill>
          <a:ln/>
        </p:spPr>
      </p:sp>
      <p:sp>
        <p:nvSpPr>
          <p:cNvPr id="60" name="Val Suspicious keywords"/>
          <p:cNvSpPr txBox="1"/>
          <p:nvPr/>
        </p:nvSpPr>
        <p:spPr>
          <a:xfrm>
            <a:off x="7438892" y="3703320"/>
            <a:ext cx="640080" cy="201168"/>
          </a:xfrm>
          <a:prstGeom prst="rect">
            <a:avLst/>
          </a:prstGeom>
          <a:noFill/>
          <a:ln/>
        </p:spPr>
        <p:txBody>
          <a:bodyPr wrap="square" lIns="0" tIns="0" rIns="0" bIns="0" rtlCol="0" anchor="ctr"/>
          <a:lstStyle/>
          <a:p>
            <a:pPr indent="0" marL="0">
              <a:buNone/>
            </a:pPr>
            <a:r>
              <a:rPr lang="en-US" sz="1100" b="1" dirty="0">
                <a:solidFill>
                  <a:schemeClr val="accent1"/>
                </a:solidFill>
              </a:rPr>
              <a:t>15.42%</a:t>
            </a:r>
            <a:endParaRPr lang="en-US" sz="1100" dirty="0"/>
          </a:p>
        </p:txBody>
      </p:sp>
      <p:sp>
        <p:nvSpPr>
          <p:cNvPr id="61" name="Feat Path length"/>
          <p:cNvSpPr txBox="1"/>
          <p:nvPr/>
        </p:nvSpPr>
        <p:spPr>
          <a:xfrm>
            <a:off x="4663440" y="3950208"/>
            <a:ext cx="1463040" cy="201168"/>
          </a:xfrm>
          <a:prstGeom prst="rect">
            <a:avLst/>
          </a:prstGeom>
          <a:noFill/>
          <a:ln/>
        </p:spPr>
        <p:txBody>
          <a:bodyPr wrap="square" lIns="0" tIns="0" rIns="0" bIns="0" rtlCol="0" anchor="ctr"/>
          <a:lstStyle/>
          <a:p>
            <a:pPr indent="0" marL="0">
              <a:buNone/>
            </a:pPr>
            <a:r>
              <a:rPr lang="en-US" sz="1100" dirty="0">
                <a:solidFill>
                  <a:schemeClr val="tx1"/>
                </a:solidFill>
              </a:rPr>
              <a:t>Path length</a:t>
            </a:r>
            <a:endParaRPr lang="en-US" sz="1100" dirty="0"/>
          </a:p>
        </p:txBody>
      </p:sp>
      <p:sp>
        <p:nvSpPr>
          <p:cNvPr id="62" name="Bar Path length"/>
          <p:cNvSpPr/>
          <p:nvPr/>
        </p:nvSpPr>
        <p:spPr>
          <a:xfrm>
            <a:off x="6172200" y="3977640"/>
            <a:ext cx="738416" cy="146304"/>
          </a:xfrm>
          <a:prstGeom prst="rect">
            <a:avLst/>
          </a:prstGeom>
          <a:solidFill>
            <a:schemeClr val="accent2"/>
          </a:solidFill>
          <a:ln/>
        </p:spPr>
      </p:sp>
      <p:sp>
        <p:nvSpPr>
          <p:cNvPr id="63" name="Val Path length"/>
          <p:cNvSpPr txBox="1"/>
          <p:nvPr/>
        </p:nvSpPr>
        <p:spPr>
          <a:xfrm>
            <a:off x="6983768" y="3950208"/>
            <a:ext cx="640080" cy="201168"/>
          </a:xfrm>
          <a:prstGeom prst="rect">
            <a:avLst/>
          </a:prstGeom>
          <a:noFill/>
          <a:ln/>
        </p:spPr>
        <p:txBody>
          <a:bodyPr wrap="square" lIns="0" tIns="0" rIns="0" bIns="0" rtlCol="0" anchor="ctr"/>
          <a:lstStyle/>
          <a:p>
            <a:pPr indent="0" marL="0">
              <a:buNone/>
            </a:pPr>
            <a:r>
              <a:rPr lang="en-US" sz="1100" b="1" dirty="0">
                <a:solidFill>
                  <a:schemeClr val="accent1"/>
                </a:solidFill>
              </a:rPr>
              <a:t>9.54%</a:t>
            </a:r>
            <a:endParaRPr lang="en-US" sz="1100" dirty="0"/>
          </a:p>
        </p:txBody>
      </p:sp>
      <p:sp>
        <p:nvSpPr>
          <p:cNvPr id="64" name="Feat Domain length"/>
          <p:cNvSpPr txBox="1"/>
          <p:nvPr/>
        </p:nvSpPr>
        <p:spPr>
          <a:xfrm>
            <a:off x="4663440" y="4197096"/>
            <a:ext cx="1463040" cy="201168"/>
          </a:xfrm>
          <a:prstGeom prst="rect">
            <a:avLst/>
          </a:prstGeom>
          <a:noFill/>
          <a:ln/>
        </p:spPr>
        <p:txBody>
          <a:bodyPr wrap="square" lIns="0" tIns="0" rIns="0" bIns="0" rtlCol="0" anchor="ctr"/>
          <a:lstStyle/>
          <a:p>
            <a:pPr indent="0" marL="0">
              <a:buNone/>
            </a:pPr>
            <a:r>
              <a:rPr lang="en-US" sz="1100" dirty="0">
                <a:solidFill>
                  <a:schemeClr val="tx1"/>
                </a:solidFill>
              </a:rPr>
              <a:t>Domain length</a:t>
            </a:r>
            <a:endParaRPr lang="en-US" sz="1100" dirty="0"/>
          </a:p>
        </p:txBody>
      </p:sp>
      <p:sp>
        <p:nvSpPr>
          <p:cNvPr id="65" name="Bar Domain length"/>
          <p:cNvSpPr/>
          <p:nvPr/>
        </p:nvSpPr>
        <p:spPr>
          <a:xfrm>
            <a:off x="6172200" y="4224528"/>
            <a:ext cx="578194" cy="146304"/>
          </a:xfrm>
          <a:prstGeom prst="rect">
            <a:avLst/>
          </a:prstGeom>
          <a:solidFill>
            <a:schemeClr val="accent2"/>
          </a:solidFill>
          <a:ln/>
        </p:spPr>
      </p:sp>
      <p:sp>
        <p:nvSpPr>
          <p:cNvPr id="66" name="Val Domain length"/>
          <p:cNvSpPr txBox="1"/>
          <p:nvPr/>
        </p:nvSpPr>
        <p:spPr>
          <a:xfrm>
            <a:off x="6823546" y="4197096"/>
            <a:ext cx="640080" cy="201168"/>
          </a:xfrm>
          <a:prstGeom prst="rect">
            <a:avLst/>
          </a:prstGeom>
          <a:noFill/>
          <a:ln/>
        </p:spPr>
        <p:txBody>
          <a:bodyPr wrap="square" lIns="0" tIns="0" rIns="0" bIns="0" rtlCol="0" anchor="ctr"/>
          <a:lstStyle/>
          <a:p>
            <a:pPr indent="0" marL="0">
              <a:buNone/>
            </a:pPr>
            <a:r>
              <a:rPr lang="en-US" sz="1100" b="1" dirty="0">
                <a:solidFill>
                  <a:schemeClr val="accent1"/>
                </a:solidFill>
              </a:rPr>
              <a:t>7.47%</a:t>
            </a:r>
            <a:endParaRPr lang="en-US" sz="1100" dirty="0"/>
          </a:p>
        </p:txBody>
      </p:sp>
      <p:sp>
        <p:nvSpPr>
          <p:cNvPr id="67" name="Tech Python"/>
          <p:cNvSpPr/>
          <p:nvPr/>
        </p:nvSpPr>
        <p:spPr>
          <a:xfrm>
            <a:off x="365760" y="4572000"/>
            <a:ext cx="868680" cy="310896"/>
          </a:xfrm>
          <a:prstGeom prst="roundRect">
            <a:avLst>
              <a:gd name="adj" fmla="val 50000"/>
            </a:avLst>
          </a:prstGeom>
          <a:solidFill>
            <a:schemeClr val="accent1">
              <a:alpha val="15000"/>
            </a:schemeClr>
          </a:solidFill>
          <a:ln w="9525">
            <a:solidFill>
              <a:schemeClr val="accent1"/>
            </a:solidFill>
            <a:prstDash val="solid"/>
          </a:ln>
        </p:spPr>
      </p:sp>
      <p:sp>
        <p:nvSpPr>
          <p:cNvPr id="68" name="Tech text Python"/>
          <p:cNvSpPr txBox="1"/>
          <p:nvPr/>
        </p:nvSpPr>
        <p:spPr>
          <a:xfrm>
            <a:off x="365760" y="4572000"/>
            <a:ext cx="868680" cy="310896"/>
          </a:xfrm>
          <a:prstGeom prst="rect">
            <a:avLst/>
          </a:prstGeom>
          <a:noFill/>
          <a:ln/>
        </p:spPr>
        <p:txBody>
          <a:bodyPr wrap="square" lIns="0" tIns="0" rIns="0" bIns="0" rtlCol="0" anchor="ctr"/>
          <a:lstStyle/>
          <a:p>
            <a:pPr algn="ctr" indent="0" marL="0">
              <a:buNone/>
            </a:pPr>
            <a:r>
              <a:rPr lang="en-US" sz="1100" b="1" dirty="0">
                <a:solidFill>
                  <a:schemeClr val="tx1"/>
                </a:solidFill>
              </a:rPr>
              <a:t>Python</a:t>
            </a:r>
            <a:endParaRPr lang="en-US" sz="1100" dirty="0"/>
          </a:p>
        </p:txBody>
      </p:sp>
      <p:sp>
        <p:nvSpPr>
          <p:cNvPr id="69" name="Tech Scikit-learn"/>
          <p:cNvSpPr/>
          <p:nvPr/>
        </p:nvSpPr>
        <p:spPr>
          <a:xfrm>
            <a:off x="1344168" y="4572000"/>
            <a:ext cx="1097280" cy="310896"/>
          </a:xfrm>
          <a:prstGeom prst="roundRect">
            <a:avLst>
              <a:gd name="adj" fmla="val 50000"/>
            </a:avLst>
          </a:prstGeom>
          <a:solidFill>
            <a:schemeClr val="accent1">
              <a:alpha val="15000"/>
            </a:schemeClr>
          </a:solidFill>
          <a:ln w="9525">
            <a:solidFill>
              <a:schemeClr val="accent1"/>
            </a:solidFill>
            <a:prstDash val="solid"/>
          </a:ln>
        </p:spPr>
      </p:sp>
      <p:sp>
        <p:nvSpPr>
          <p:cNvPr id="70" name="Tech text Scikit-learn"/>
          <p:cNvSpPr txBox="1"/>
          <p:nvPr/>
        </p:nvSpPr>
        <p:spPr>
          <a:xfrm>
            <a:off x="1344168" y="4572000"/>
            <a:ext cx="1097280" cy="310896"/>
          </a:xfrm>
          <a:prstGeom prst="rect">
            <a:avLst/>
          </a:prstGeom>
          <a:noFill/>
          <a:ln/>
        </p:spPr>
        <p:txBody>
          <a:bodyPr wrap="square" lIns="0" tIns="0" rIns="0" bIns="0" rtlCol="0" anchor="ctr"/>
          <a:lstStyle/>
          <a:p>
            <a:pPr algn="ctr" indent="0" marL="0">
              <a:buNone/>
            </a:pPr>
            <a:r>
              <a:rPr lang="en-US" sz="1100" b="1" dirty="0">
                <a:solidFill>
                  <a:schemeClr val="tx1"/>
                </a:solidFill>
              </a:rPr>
              <a:t>Scikit-learn</a:t>
            </a:r>
            <a:endParaRPr lang="en-US" sz="1100" dirty="0"/>
          </a:p>
        </p:txBody>
      </p:sp>
      <p:sp>
        <p:nvSpPr>
          <p:cNvPr id="71" name="Tech Random Forest"/>
          <p:cNvSpPr/>
          <p:nvPr/>
        </p:nvSpPr>
        <p:spPr>
          <a:xfrm>
            <a:off x="2551176" y="4572000"/>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72" name="Tech text Random Forest"/>
          <p:cNvSpPr txBox="1"/>
          <p:nvPr/>
        </p:nvSpPr>
        <p:spPr>
          <a:xfrm>
            <a:off x="2551176" y="4572000"/>
            <a:ext cx="1234440" cy="310896"/>
          </a:xfrm>
          <a:prstGeom prst="rect">
            <a:avLst/>
          </a:prstGeom>
          <a:noFill/>
          <a:ln/>
        </p:spPr>
        <p:txBody>
          <a:bodyPr wrap="square" lIns="0" tIns="0" rIns="0" bIns="0" rtlCol="0" anchor="ctr"/>
          <a:lstStyle/>
          <a:p>
            <a:pPr algn="ctr" indent="0" marL="0">
              <a:buNone/>
            </a:pPr>
            <a:r>
              <a:rPr lang="en-US" sz="1100" b="1" dirty="0">
                <a:solidFill>
                  <a:schemeClr val="tx1"/>
                </a:solidFill>
              </a:rPr>
              <a:t>Random Forest</a:t>
            </a:r>
            <a:endParaRPr lang="en-US" sz="1100" dirty="0"/>
          </a:p>
        </p:txBody>
      </p:sp>
      <p:sp>
        <p:nvSpPr>
          <p:cNvPr id="73" name="Tech 100 decision trees"/>
          <p:cNvSpPr/>
          <p:nvPr/>
        </p:nvSpPr>
        <p:spPr>
          <a:xfrm>
            <a:off x="3895344" y="4572000"/>
            <a:ext cx="1508760" cy="310896"/>
          </a:xfrm>
          <a:prstGeom prst="roundRect">
            <a:avLst>
              <a:gd name="adj" fmla="val 50000"/>
            </a:avLst>
          </a:prstGeom>
          <a:solidFill>
            <a:schemeClr val="accent1">
              <a:alpha val="15000"/>
            </a:schemeClr>
          </a:solidFill>
          <a:ln w="9525">
            <a:solidFill>
              <a:schemeClr val="accent1"/>
            </a:solidFill>
            <a:prstDash val="solid"/>
          </a:ln>
        </p:spPr>
      </p:sp>
      <p:sp>
        <p:nvSpPr>
          <p:cNvPr id="74" name="Tech text 100 decision trees"/>
          <p:cNvSpPr txBox="1"/>
          <p:nvPr/>
        </p:nvSpPr>
        <p:spPr>
          <a:xfrm>
            <a:off x="3895344" y="4572000"/>
            <a:ext cx="1508760" cy="310896"/>
          </a:xfrm>
          <a:prstGeom prst="rect">
            <a:avLst/>
          </a:prstGeom>
          <a:noFill/>
          <a:ln/>
        </p:spPr>
        <p:txBody>
          <a:bodyPr wrap="square" lIns="0" tIns="0" rIns="0" bIns="0" rtlCol="0" anchor="ctr"/>
          <a:lstStyle/>
          <a:p>
            <a:pPr algn="ctr" indent="0" marL="0">
              <a:buNone/>
            </a:pPr>
            <a:r>
              <a:rPr lang="en-US" sz="1100" b="1" dirty="0">
                <a:solidFill>
                  <a:schemeClr val="tx1"/>
                </a:solidFill>
              </a:rPr>
              <a:t>100 decision trees</a:t>
            </a:r>
            <a:endParaRPr lang="en-US" sz="1100" dirty="0"/>
          </a:p>
        </p:txBody>
      </p:sp>
      <p:sp>
        <p:nvSpPr>
          <p:cNvPr id="75" name="Tech URL never visited"/>
          <p:cNvSpPr/>
          <p:nvPr/>
        </p:nvSpPr>
        <p:spPr>
          <a:xfrm>
            <a:off x="5513832" y="4572000"/>
            <a:ext cx="1554480" cy="310896"/>
          </a:xfrm>
          <a:prstGeom prst="roundRect">
            <a:avLst>
              <a:gd name="adj" fmla="val 50000"/>
            </a:avLst>
          </a:prstGeom>
          <a:solidFill>
            <a:schemeClr val="accent3">
              <a:alpha val="15000"/>
            </a:schemeClr>
          </a:solidFill>
          <a:ln w="9525">
            <a:solidFill>
              <a:schemeClr val="accent3"/>
            </a:solidFill>
            <a:prstDash val="solid"/>
          </a:ln>
        </p:spPr>
      </p:sp>
      <p:sp>
        <p:nvSpPr>
          <p:cNvPr id="76" name="Tech text URL never visited"/>
          <p:cNvSpPr txBox="1"/>
          <p:nvPr/>
        </p:nvSpPr>
        <p:spPr>
          <a:xfrm>
            <a:off x="5513832" y="4572000"/>
            <a:ext cx="1554480" cy="310896"/>
          </a:xfrm>
          <a:prstGeom prst="rect">
            <a:avLst/>
          </a:prstGeom>
          <a:noFill/>
          <a:ln/>
        </p:spPr>
        <p:txBody>
          <a:bodyPr wrap="square" lIns="0" tIns="0" rIns="0" bIns="0" rtlCol="0" anchor="ctr"/>
          <a:lstStyle/>
          <a:p>
            <a:pPr algn="ctr" indent="0" marL="0">
              <a:buNone/>
            </a:pPr>
            <a:r>
              <a:rPr lang="en-US" sz="1100" b="1" dirty="0">
                <a:solidFill>
                  <a:schemeClr val="tx1"/>
                </a:solidFill>
              </a:rPr>
              <a:t>URL never visited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low"/>
          <p:cNvSpPr/>
          <p:nvPr/>
        </p:nvSpPr>
        <p:spPr>
          <a:xfrm>
            <a:off x="-1828800" y="2926080"/>
            <a:ext cx="4572000" cy="4572000"/>
          </a:xfrm>
          <a:prstGeom prst="ellipse">
            <a:avLst/>
          </a:prstGeom>
          <a:solidFill>
            <a:schemeClr val="accent2">
              <a:alpha val="8000"/>
            </a:schemeClr>
          </a:solidFill>
          <a:ln/>
        </p:spPr>
      </p:sp>
      <p:sp>
        <p:nvSpPr>
          <p:cNvPr id="3" name="Text 0"/>
          <p:cNvSpPr/>
          <p:nvPr>
            <p:ph idx="100" type="title" hasCustomPrompt="1"/>
          </p:nvPr>
        </p:nvSpPr>
        <p:spPr>
          <a:xfrm>
            <a:off x="365760" y="201168"/>
            <a:ext cx="8412480" cy="566928"/>
          </a:xfrm>
          <a:prstGeom prst="rect">
            <a:avLst/>
          </a:prstGeom>
          <a:noFill/>
          <a:ln/>
        </p:spPr>
        <p:txBody>
          <a:bodyPr wrap="square" lIns="0" tIns="0" rIns="0" bIns="0" rtlCol="0" anchor="ctr"/>
          <a:lstStyle/>
          <a:p>
            <a:pPr algn="l" indent="0" marL="0">
              <a:buNone/>
            </a:pPr>
            <a:r>
              <a:rPr lang="en-US" sz="2800" b="1" dirty="0">
                <a:solidFill>
                  <a:schemeClr val="tx1"/>
                </a:solidFill>
              </a:rPr>
              <a:t>Implementation &amp; Results</a:t>
            </a:r>
            <a:endParaRPr lang="en-US" sz="2800" dirty="0"/>
          </a:p>
        </p:txBody>
      </p:sp>
      <p:sp>
        <p:nvSpPr>
          <p:cNvPr id="4" name="Benchmark frame"/>
          <p:cNvSpPr/>
          <p:nvPr/>
        </p:nvSpPr>
        <p:spPr>
          <a:xfrm>
            <a:off x="320040" y="868680"/>
            <a:ext cx="4663440" cy="2381250"/>
          </a:xfrm>
          <a:prstGeom prst="roundRect">
            <a:avLst>
              <a:gd name="adj" fmla="val 2304"/>
            </a:avLst>
          </a:prstGeom>
          <a:solidFill>
            <a:schemeClr val="bg2"/>
          </a:solidFill>
          <a:ln w="12700">
            <a:solidFill>
              <a:schemeClr val="accent1">
                <a:alpha val="60000"/>
              </a:schemeClr>
            </a:solidFill>
            <a:prstDash val="solid"/>
          </a:ln>
        </p:spPr>
      </p:sp>
      <p:pic>
        <p:nvPicPr>
          <p:cNvPr id="5" name="Image 0" descr="Model benchmark, confusion matrix and feature importance on the deployed website (real screenshot)">    </p:cNvPr>
          <p:cNvPicPr>
            <a:picLocks noChangeAspect="1"/>
          </p:cNvPicPr>
          <p:nvPr/>
        </p:nvPicPr>
        <p:blipFill>
          <a:blip r:embed="rId1"/>
          <a:stretch>
            <a:fillRect/>
          </a:stretch>
        </p:blipFill>
        <p:spPr>
          <a:xfrm>
            <a:off x="365760" y="914400"/>
            <a:ext cx="4572000" cy="2289810"/>
          </a:xfrm>
          <a:prstGeom prst="rect">
            <a:avLst/>
          </a:prstGeom>
        </p:spPr>
      </p:pic>
      <p:sp>
        <p:nvSpPr>
          <p:cNvPr id="6" name="Benchmark caption"/>
          <p:cNvSpPr txBox="1"/>
          <p:nvPr/>
        </p:nvSpPr>
        <p:spPr>
          <a:xfrm>
            <a:off x="365760" y="3295650"/>
            <a:ext cx="4572000" cy="201168"/>
          </a:xfrm>
          <a:prstGeom prst="rect">
            <a:avLst/>
          </a:prstGeom>
          <a:noFill/>
          <a:ln/>
        </p:spPr>
        <p:txBody>
          <a:bodyPr wrap="square" lIns="0" tIns="0" rIns="0" bIns="0" rtlCol="0" anchor="ctr"/>
          <a:lstStyle/>
          <a:p>
            <a:pPr algn="ctr" indent="0" marL="0">
              <a:buNone/>
            </a:pPr>
            <a:r>
              <a:rPr lang="en-US" sz="1000" dirty="0">
                <a:solidFill>
                  <a:schemeClr val="tx2"/>
                </a:solidFill>
              </a:rPr>
              <a:t>Live site: model benchmark, confusion matrix, feature importance</a:t>
            </a:r>
            <a:endParaRPr lang="en-US" sz="1000" dirty="0"/>
          </a:p>
        </p:txBody>
      </p:sp>
      <p:sp>
        <p:nvSpPr>
          <p:cNvPr id="7" name="Live scanner slot"/>
          <p:cNvSpPr/>
          <p:nvPr/>
        </p:nvSpPr>
        <p:spPr>
          <a:xfrm>
            <a:off x="365760" y="3611880"/>
            <a:ext cx="4572000" cy="868680"/>
          </a:xfrm>
          <a:prstGeom prst="roundRect">
            <a:avLst>
              <a:gd name="adj" fmla="val 6316"/>
            </a:avLst>
          </a:prstGeom>
          <a:solidFill>
            <a:schemeClr val="bg2"/>
          </a:solidFill>
          <a:ln w="15875">
            <a:solidFill>
              <a:schemeClr val="accent1"/>
            </a:solidFill>
            <a:prstDash val="dash"/>
          </a:ln>
        </p:spPr>
      </p:sp>
      <p:sp>
        <p:nvSpPr>
          <p:cNvPr id="8" name="Slot label"/>
          <p:cNvSpPr txBox="1"/>
          <p:nvPr/>
        </p:nvSpPr>
        <p:spPr>
          <a:xfrm>
            <a:off x="365760" y="3666744"/>
            <a:ext cx="4572000" cy="274320"/>
          </a:xfrm>
          <a:prstGeom prst="rect">
            <a:avLst/>
          </a:prstGeom>
          <a:noFill/>
          <a:ln/>
        </p:spPr>
        <p:txBody>
          <a:bodyPr wrap="square" lIns="0" tIns="0" rIns="0" bIns="0" rtlCol="0" anchor="ctr"/>
          <a:lstStyle/>
          <a:p>
            <a:pPr algn="ctr" indent="0" marL="0">
              <a:buNone/>
            </a:pPr>
            <a:r>
              <a:rPr lang="en-US" sz="1200" b="1" dirty="0">
                <a:solidFill>
                  <a:schemeClr val="accent1"/>
                </a:solidFill>
              </a:rPr>
              <a:t>Live Scanner screenshot goes here</a:t>
            </a:r>
            <a:endParaRPr lang="en-US" sz="1200" dirty="0"/>
          </a:p>
        </p:txBody>
      </p:sp>
      <p:sp>
        <p:nvSpPr>
          <p:cNvPr id="9" name="Slot chip 1"/>
          <p:cNvSpPr/>
          <p:nvPr/>
        </p:nvSpPr>
        <p:spPr>
          <a:xfrm>
            <a:off x="475488" y="4023360"/>
            <a:ext cx="1024128" cy="310896"/>
          </a:xfrm>
          <a:prstGeom prst="roundRect">
            <a:avLst>
              <a:gd name="adj" fmla="val 50000"/>
            </a:avLst>
          </a:prstGeom>
          <a:solidFill>
            <a:schemeClr val="accent1">
              <a:alpha val="15000"/>
            </a:schemeClr>
          </a:solidFill>
          <a:ln w="9525">
            <a:solidFill>
              <a:schemeClr val="accent1"/>
            </a:solidFill>
            <a:prstDash val="solid"/>
          </a:ln>
        </p:spPr>
      </p:sp>
      <p:sp>
        <p:nvSpPr>
          <p:cNvPr id="10" name="Slot chip text 1"/>
          <p:cNvSpPr txBox="1"/>
          <p:nvPr/>
        </p:nvSpPr>
        <p:spPr>
          <a:xfrm>
            <a:off x="475488" y="4023360"/>
            <a:ext cx="1024128" cy="310896"/>
          </a:xfrm>
          <a:prstGeom prst="rect">
            <a:avLst/>
          </a:prstGeom>
          <a:noFill/>
          <a:ln/>
        </p:spPr>
        <p:txBody>
          <a:bodyPr wrap="square" lIns="0" tIns="0" rIns="0" bIns="0" rtlCol="0" anchor="ctr"/>
          <a:lstStyle/>
          <a:p>
            <a:pPr algn="ctr" indent="0" marL="0">
              <a:buNone/>
            </a:pPr>
            <a:r>
              <a:rPr lang="en-US" sz="1000" b="1" dirty="0">
                <a:solidFill>
                  <a:schemeClr val="tx1"/>
                </a:solidFill>
              </a:rPr>
              <a:t>1  URL input</a:t>
            </a:r>
            <a:endParaRPr lang="en-US" sz="1000" dirty="0"/>
          </a:p>
        </p:txBody>
      </p:sp>
      <p:sp>
        <p:nvSpPr>
          <p:cNvPr id="11" name="Slot chip 2"/>
          <p:cNvSpPr/>
          <p:nvPr/>
        </p:nvSpPr>
        <p:spPr>
          <a:xfrm>
            <a:off x="1563624" y="4023360"/>
            <a:ext cx="1024128" cy="310896"/>
          </a:xfrm>
          <a:prstGeom prst="roundRect">
            <a:avLst>
              <a:gd name="adj" fmla="val 50000"/>
            </a:avLst>
          </a:prstGeom>
          <a:solidFill>
            <a:schemeClr val="accent1">
              <a:alpha val="15000"/>
            </a:schemeClr>
          </a:solidFill>
          <a:ln w="9525">
            <a:solidFill>
              <a:schemeClr val="accent1"/>
            </a:solidFill>
            <a:prstDash val="solid"/>
          </a:ln>
        </p:spPr>
      </p:sp>
      <p:sp>
        <p:nvSpPr>
          <p:cNvPr id="12" name="Slot chip text 2"/>
          <p:cNvSpPr txBox="1"/>
          <p:nvPr/>
        </p:nvSpPr>
        <p:spPr>
          <a:xfrm>
            <a:off x="1563624" y="4023360"/>
            <a:ext cx="1024128" cy="310896"/>
          </a:xfrm>
          <a:prstGeom prst="rect">
            <a:avLst/>
          </a:prstGeom>
          <a:noFill/>
          <a:ln/>
        </p:spPr>
        <p:txBody>
          <a:bodyPr wrap="square" lIns="0" tIns="0" rIns="0" bIns="0" rtlCol="0" anchor="ctr"/>
          <a:lstStyle/>
          <a:p>
            <a:pPr algn="ctr" indent="0" marL="0">
              <a:buNone/>
            </a:pPr>
            <a:r>
              <a:rPr lang="en-US" sz="1000" b="1" dirty="0">
                <a:solidFill>
                  <a:schemeClr val="tx1"/>
                </a:solidFill>
              </a:rPr>
              <a:t>2  Verdict</a:t>
            </a:r>
            <a:endParaRPr lang="en-US" sz="1000" dirty="0"/>
          </a:p>
        </p:txBody>
      </p:sp>
      <p:sp>
        <p:nvSpPr>
          <p:cNvPr id="13" name="Slot chip 3"/>
          <p:cNvSpPr/>
          <p:nvPr/>
        </p:nvSpPr>
        <p:spPr>
          <a:xfrm>
            <a:off x="2651760" y="4023360"/>
            <a:ext cx="1024128" cy="310896"/>
          </a:xfrm>
          <a:prstGeom prst="roundRect">
            <a:avLst>
              <a:gd name="adj" fmla="val 50000"/>
            </a:avLst>
          </a:prstGeom>
          <a:solidFill>
            <a:schemeClr val="accent1">
              <a:alpha val="15000"/>
            </a:schemeClr>
          </a:solidFill>
          <a:ln w="9525">
            <a:solidFill>
              <a:schemeClr val="accent1"/>
            </a:solidFill>
            <a:prstDash val="solid"/>
          </a:ln>
        </p:spPr>
      </p:sp>
      <p:sp>
        <p:nvSpPr>
          <p:cNvPr id="14" name="Slot chip text 3"/>
          <p:cNvSpPr txBox="1"/>
          <p:nvPr/>
        </p:nvSpPr>
        <p:spPr>
          <a:xfrm>
            <a:off x="2651760" y="4023360"/>
            <a:ext cx="1024128" cy="310896"/>
          </a:xfrm>
          <a:prstGeom prst="rect">
            <a:avLst/>
          </a:prstGeom>
          <a:noFill/>
          <a:ln/>
        </p:spPr>
        <p:txBody>
          <a:bodyPr wrap="square" lIns="0" tIns="0" rIns="0" bIns="0" rtlCol="0" anchor="ctr"/>
          <a:lstStyle/>
          <a:p>
            <a:pPr algn="ctr" indent="0" marL="0">
              <a:buNone/>
            </a:pPr>
            <a:r>
              <a:rPr lang="en-US" sz="1000" b="1" dirty="0">
                <a:solidFill>
                  <a:schemeClr val="tx1"/>
                </a:solidFill>
              </a:rPr>
              <a:t>3  Confidence</a:t>
            </a:r>
            <a:endParaRPr lang="en-US" sz="1000" dirty="0"/>
          </a:p>
        </p:txBody>
      </p:sp>
      <p:sp>
        <p:nvSpPr>
          <p:cNvPr id="15" name="Slot chip 4"/>
          <p:cNvSpPr/>
          <p:nvPr/>
        </p:nvSpPr>
        <p:spPr>
          <a:xfrm>
            <a:off x="3739896" y="4023360"/>
            <a:ext cx="1024128" cy="310896"/>
          </a:xfrm>
          <a:prstGeom prst="roundRect">
            <a:avLst>
              <a:gd name="adj" fmla="val 50000"/>
            </a:avLst>
          </a:prstGeom>
          <a:solidFill>
            <a:schemeClr val="accent1">
              <a:alpha val="15000"/>
            </a:schemeClr>
          </a:solidFill>
          <a:ln w="9525">
            <a:solidFill>
              <a:schemeClr val="accent1"/>
            </a:solidFill>
            <a:prstDash val="solid"/>
          </a:ln>
        </p:spPr>
      </p:sp>
      <p:sp>
        <p:nvSpPr>
          <p:cNvPr id="16" name="Slot chip text 4"/>
          <p:cNvSpPr txBox="1"/>
          <p:nvPr/>
        </p:nvSpPr>
        <p:spPr>
          <a:xfrm>
            <a:off x="3739896" y="4023360"/>
            <a:ext cx="1024128" cy="310896"/>
          </a:xfrm>
          <a:prstGeom prst="rect">
            <a:avLst/>
          </a:prstGeom>
          <a:noFill/>
          <a:ln/>
        </p:spPr>
        <p:txBody>
          <a:bodyPr wrap="square" lIns="0" tIns="0" rIns="0" bIns="0" rtlCol="0" anchor="ctr"/>
          <a:lstStyle/>
          <a:p>
            <a:pPr algn="ctr" indent="0" marL="0">
              <a:buNone/>
            </a:pPr>
            <a:r>
              <a:rPr lang="en-US" sz="1000" b="1" dirty="0">
                <a:solidFill>
                  <a:schemeClr val="tx1"/>
                </a:solidFill>
              </a:rPr>
              <a:t>4  XAI</a:t>
            </a:r>
            <a:endParaRPr lang="en-US" sz="1000" dirty="0"/>
          </a:p>
        </p:txBody>
      </p:sp>
      <p:sp>
        <p:nvSpPr>
          <p:cNvPr id="17" name="Metrics heading"/>
          <p:cNvSpPr txBox="1"/>
          <p:nvPr/>
        </p:nvSpPr>
        <p:spPr>
          <a:xfrm>
            <a:off x="5166360" y="868680"/>
            <a:ext cx="3611880" cy="237744"/>
          </a:xfrm>
          <a:prstGeom prst="rect">
            <a:avLst/>
          </a:prstGeom>
          <a:noFill/>
          <a:ln/>
        </p:spPr>
        <p:txBody>
          <a:bodyPr wrap="square" lIns="0" tIns="0" rIns="0" bIns="0" rtlCol="0" anchor="ctr"/>
          <a:lstStyle/>
          <a:p>
            <a:pPr indent="0" marL="0">
              <a:buNone/>
            </a:pPr>
            <a:r>
              <a:rPr lang="en-US" sz="1300" b="1" dirty="0">
                <a:solidFill>
                  <a:schemeClr val="accent1"/>
                </a:solidFill>
              </a:rPr>
              <a:t>Random Forest on 1,200 held-out URLs</a:t>
            </a:r>
            <a:endParaRPr lang="en-US" sz="1300" dirty="0"/>
          </a:p>
        </p:txBody>
      </p:sp>
      <p:sp>
        <p:nvSpPr>
          <p:cNvPr id="18" name="Metrics sub"/>
          <p:cNvSpPr txBox="1"/>
          <p:nvPr/>
        </p:nvSpPr>
        <p:spPr>
          <a:xfrm>
            <a:off x="5166360" y="1115568"/>
            <a:ext cx="3611880" cy="201168"/>
          </a:xfrm>
          <a:prstGeom prst="rect">
            <a:avLst/>
          </a:prstGeom>
          <a:noFill/>
          <a:ln/>
        </p:spPr>
        <p:txBody>
          <a:bodyPr wrap="square" lIns="0" tIns="0" rIns="0" bIns="0" rtlCol="0" anchor="ctr"/>
          <a:lstStyle/>
          <a:p>
            <a:pPr indent="0" marL="0">
              <a:buNone/>
            </a:pPr>
            <a:r>
              <a:rPr lang="en-US" sz="1100" dirty="0">
                <a:solidFill>
                  <a:schemeClr val="tx2"/>
                </a:solidFill>
              </a:rPr>
              <a:t>600 safe  |  600 phishing</a:t>
            </a:r>
            <a:endParaRPr lang="en-US" sz="1100" dirty="0"/>
          </a:p>
        </p:txBody>
      </p:sp>
      <p:sp>
        <p:nvSpPr>
          <p:cNvPr id="19" name="Metric Accuracy"/>
          <p:cNvSpPr/>
          <p:nvPr/>
        </p:nvSpPr>
        <p:spPr>
          <a:xfrm>
            <a:off x="5166360" y="1389888"/>
            <a:ext cx="1737360" cy="621792"/>
          </a:xfrm>
          <a:prstGeom prst="roundRect">
            <a:avLst>
              <a:gd name="adj" fmla="val 11765"/>
            </a:avLst>
          </a:prstGeom>
          <a:solidFill>
            <a:schemeClr val="bg2"/>
          </a:solidFill>
          <a:ln w="9525">
            <a:solidFill>
              <a:schemeClr val="accent2">
                <a:alpha val="40000"/>
              </a:schemeClr>
            </a:solidFill>
            <a:prstDash val="solid"/>
          </a:ln>
        </p:spPr>
      </p:sp>
      <p:sp>
        <p:nvSpPr>
          <p:cNvPr id="20" name="Metric text Accuracy"/>
          <p:cNvSpPr txBox="1"/>
          <p:nvPr/>
        </p:nvSpPr>
        <p:spPr>
          <a:xfrm>
            <a:off x="5166360" y="1389888"/>
            <a:ext cx="1737360" cy="621792"/>
          </a:xfrm>
          <a:prstGeom prst="rect">
            <a:avLst/>
          </a:prstGeom>
          <a:noFill/>
          <a:ln/>
        </p:spPr>
        <p:txBody>
          <a:bodyPr wrap="square" lIns="0" tIns="0" rIns="0" bIns="0" rtlCol="0" anchor="ctr"/>
          <a:lstStyle/>
          <a:p>
            <a:pPr algn="ctr" indent="0" marL="0">
              <a:buNone/>
            </a:pPr>
            <a:r>
              <a:rPr lang="en-US" sz="2400" b="1" dirty="0">
                <a:solidFill>
                  <a:schemeClr val="accent1"/>
                </a:solidFill>
              </a:rPr>
              <a:t>100%</a:t>
            </a:r>
            <a:endParaRPr lang="en-US" sz="2400" dirty="0"/>
          </a:p>
          <a:p>
            <a:pPr algn="ctr" indent="0" marL="0">
              <a:buNone/>
            </a:pPr>
            <a:r>
              <a:rPr lang="en-US" sz="1100" dirty="0">
                <a:solidFill>
                  <a:schemeClr val="tx2"/>
                </a:solidFill>
              </a:rPr>
              <a:t>Accuracy</a:t>
            </a:r>
            <a:endParaRPr lang="en-US" sz="2400" dirty="0"/>
          </a:p>
        </p:txBody>
      </p:sp>
      <p:sp>
        <p:nvSpPr>
          <p:cNvPr id="21" name="Metric Precision"/>
          <p:cNvSpPr/>
          <p:nvPr/>
        </p:nvSpPr>
        <p:spPr>
          <a:xfrm>
            <a:off x="7040880" y="1389888"/>
            <a:ext cx="1737360" cy="621792"/>
          </a:xfrm>
          <a:prstGeom prst="roundRect">
            <a:avLst>
              <a:gd name="adj" fmla="val 11765"/>
            </a:avLst>
          </a:prstGeom>
          <a:solidFill>
            <a:schemeClr val="bg2"/>
          </a:solidFill>
          <a:ln w="9525">
            <a:solidFill>
              <a:schemeClr val="accent2">
                <a:alpha val="40000"/>
              </a:schemeClr>
            </a:solidFill>
            <a:prstDash val="solid"/>
          </a:ln>
        </p:spPr>
      </p:sp>
      <p:sp>
        <p:nvSpPr>
          <p:cNvPr id="22" name="Metric text Precision"/>
          <p:cNvSpPr txBox="1"/>
          <p:nvPr/>
        </p:nvSpPr>
        <p:spPr>
          <a:xfrm>
            <a:off x="7040880" y="1389888"/>
            <a:ext cx="1737360" cy="621792"/>
          </a:xfrm>
          <a:prstGeom prst="rect">
            <a:avLst/>
          </a:prstGeom>
          <a:noFill/>
          <a:ln/>
        </p:spPr>
        <p:txBody>
          <a:bodyPr wrap="square" lIns="0" tIns="0" rIns="0" bIns="0" rtlCol="0" anchor="ctr"/>
          <a:lstStyle/>
          <a:p>
            <a:pPr algn="ctr" indent="0" marL="0">
              <a:buNone/>
            </a:pPr>
            <a:r>
              <a:rPr lang="en-US" sz="2400" b="1" dirty="0">
                <a:solidFill>
                  <a:schemeClr val="accent1"/>
                </a:solidFill>
              </a:rPr>
              <a:t>100%</a:t>
            </a:r>
            <a:endParaRPr lang="en-US" sz="2400" dirty="0"/>
          </a:p>
          <a:p>
            <a:pPr algn="ctr" indent="0" marL="0">
              <a:buNone/>
            </a:pPr>
            <a:r>
              <a:rPr lang="en-US" sz="1100" dirty="0">
                <a:solidFill>
                  <a:schemeClr val="tx2"/>
                </a:solidFill>
              </a:rPr>
              <a:t>Precision</a:t>
            </a:r>
            <a:endParaRPr lang="en-US" sz="2400" dirty="0"/>
          </a:p>
        </p:txBody>
      </p:sp>
      <p:sp>
        <p:nvSpPr>
          <p:cNvPr id="23" name="Metric Recall"/>
          <p:cNvSpPr/>
          <p:nvPr/>
        </p:nvSpPr>
        <p:spPr>
          <a:xfrm>
            <a:off x="5166360" y="2103120"/>
            <a:ext cx="1737360" cy="621792"/>
          </a:xfrm>
          <a:prstGeom prst="roundRect">
            <a:avLst>
              <a:gd name="adj" fmla="val 11765"/>
            </a:avLst>
          </a:prstGeom>
          <a:solidFill>
            <a:schemeClr val="bg2"/>
          </a:solidFill>
          <a:ln w="9525">
            <a:solidFill>
              <a:schemeClr val="accent2">
                <a:alpha val="40000"/>
              </a:schemeClr>
            </a:solidFill>
            <a:prstDash val="solid"/>
          </a:ln>
        </p:spPr>
      </p:sp>
      <p:sp>
        <p:nvSpPr>
          <p:cNvPr id="24" name="Metric text Recall"/>
          <p:cNvSpPr txBox="1"/>
          <p:nvPr/>
        </p:nvSpPr>
        <p:spPr>
          <a:xfrm>
            <a:off x="5166360" y="2103120"/>
            <a:ext cx="1737360" cy="621792"/>
          </a:xfrm>
          <a:prstGeom prst="rect">
            <a:avLst/>
          </a:prstGeom>
          <a:noFill/>
          <a:ln/>
        </p:spPr>
        <p:txBody>
          <a:bodyPr wrap="square" lIns="0" tIns="0" rIns="0" bIns="0" rtlCol="0" anchor="ctr"/>
          <a:lstStyle/>
          <a:p>
            <a:pPr algn="ctr" indent="0" marL="0">
              <a:buNone/>
            </a:pPr>
            <a:r>
              <a:rPr lang="en-US" sz="2400" b="1" dirty="0">
                <a:solidFill>
                  <a:schemeClr val="accent1"/>
                </a:solidFill>
              </a:rPr>
              <a:t>100%</a:t>
            </a:r>
            <a:endParaRPr lang="en-US" sz="2400" dirty="0"/>
          </a:p>
          <a:p>
            <a:pPr algn="ctr" indent="0" marL="0">
              <a:buNone/>
            </a:pPr>
            <a:r>
              <a:rPr lang="en-US" sz="1100" dirty="0">
                <a:solidFill>
                  <a:schemeClr val="tx2"/>
                </a:solidFill>
              </a:rPr>
              <a:t>Recall</a:t>
            </a:r>
            <a:endParaRPr lang="en-US" sz="2400" dirty="0"/>
          </a:p>
        </p:txBody>
      </p:sp>
      <p:sp>
        <p:nvSpPr>
          <p:cNvPr id="25" name="Metric F1-score"/>
          <p:cNvSpPr/>
          <p:nvPr/>
        </p:nvSpPr>
        <p:spPr>
          <a:xfrm>
            <a:off x="7040880" y="2103120"/>
            <a:ext cx="1737360" cy="621792"/>
          </a:xfrm>
          <a:prstGeom prst="roundRect">
            <a:avLst>
              <a:gd name="adj" fmla="val 11765"/>
            </a:avLst>
          </a:prstGeom>
          <a:solidFill>
            <a:schemeClr val="bg2"/>
          </a:solidFill>
          <a:ln w="9525">
            <a:solidFill>
              <a:schemeClr val="accent2">
                <a:alpha val="40000"/>
              </a:schemeClr>
            </a:solidFill>
            <a:prstDash val="solid"/>
          </a:ln>
        </p:spPr>
      </p:sp>
      <p:sp>
        <p:nvSpPr>
          <p:cNvPr id="26" name="Metric text F1-score"/>
          <p:cNvSpPr txBox="1"/>
          <p:nvPr/>
        </p:nvSpPr>
        <p:spPr>
          <a:xfrm>
            <a:off x="7040880" y="2103120"/>
            <a:ext cx="1737360" cy="621792"/>
          </a:xfrm>
          <a:prstGeom prst="rect">
            <a:avLst/>
          </a:prstGeom>
          <a:noFill/>
          <a:ln/>
        </p:spPr>
        <p:txBody>
          <a:bodyPr wrap="square" lIns="0" tIns="0" rIns="0" bIns="0" rtlCol="0" anchor="ctr"/>
          <a:lstStyle/>
          <a:p>
            <a:pPr algn="ctr" indent="0" marL="0">
              <a:buNone/>
            </a:pPr>
            <a:r>
              <a:rPr lang="en-US" sz="2400" b="1" dirty="0">
                <a:solidFill>
                  <a:schemeClr val="accent1"/>
                </a:solidFill>
              </a:rPr>
              <a:t>100%</a:t>
            </a:r>
            <a:endParaRPr lang="en-US" sz="2400" dirty="0"/>
          </a:p>
          <a:p>
            <a:pPr algn="ctr" indent="0" marL="0">
              <a:buNone/>
            </a:pPr>
            <a:r>
              <a:rPr lang="en-US" sz="1100" dirty="0">
                <a:solidFill>
                  <a:schemeClr val="tx2"/>
                </a:solidFill>
              </a:rPr>
              <a:t>F1-score</a:t>
            </a:r>
            <a:endParaRPr lang="en-US" sz="2400" dirty="0"/>
          </a:p>
        </p:txBody>
      </p:sp>
      <p:sp>
        <p:nvSpPr>
          <p:cNvPr id="27" name="CM heading"/>
          <p:cNvSpPr txBox="1"/>
          <p:nvPr/>
        </p:nvSpPr>
        <p:spPr>
          <a:xfrm>
            <a:off x="5166360" y="2880360"/>
            <a:ext cx="3611880" cy="219456"/>
          </a:xfrm>
          <a:prstGeom prst="rect">
            <a:avLst/>
          </a:prstGeom>
          <a:noFill/>
          <a:ln/>
        </p:spPr>
        <p:txBody>
          <a:bodyPr wrap="square" lIns="0" tIns="0" rIns="0" bIns="0" rtlCol="0" anchor="ctr"/>
          <a:lstStyle/>
          <a:p>
            <a:pPr indent="0" marL="0">
              <a:buNone/>
            </a:pPr>
            <a:r>
              <a:rPr lang="en-US" sz="1200" b="1" dirty="0">
                <a:solidFill>
                  <a:schemeClr val="tx1"/>
                </a:solidFill>
              </a:rPr>
              <a:t>Confusion matrix</a:t>
            </a:r>
            <a:endParaRPr lang="en-US" sz="1200" dirty="0"/>
          </a:p>
        </p:txBody>
      </p:sp>
      <p:sp>
        <p:nvSpPr>
          <p:cNvPr id="28" name="CM col 1"/>
          <p:cNvSpPr txBox="1"/>
          <p:nvPr/>
        </p:nvSpPr>
        <p:spPr>
          <a:xfrm>
            <a:off x="6035040" y="3127248"/>
            <a:ext cx="1325880" cy="182880"/>
          </a:xfrm>
          <a:prstGeom prst="rect">
            <a:avLst/>
          </a:prstGeom>
          <a:noFill/>
          <a:ln/>
        </p:spPr>
        <p:txBody>
          <a:bodyPr wrap="square" lIns="0" tIns="0" rIns="0" bIns="0" rtlCol="0" anchor="ctr"/>
          <a:lstStyle/>
          <a:p>
            <a:pPr algn="ctr" indent="0" marL="0">
              <a:buNone/>
            </a:pPr>
            <a:r>
              <a:rPr lang="en-US" sz="1000" dirty="0">
                <a:solidFill>
                  <a:schemeClr val="tx2"/>
                </a:solidFill>
              </a:rPr>
              <a:t>Pred. Safe</a:t>
            </a:r>
            <a:endParaRPr lang="en-US" sz="1000" dirty="0"/>
          </a:p>
        </p:txBody>
      </p:sp>
      <p:sp>
        <p:nvSpPr>
          <p:cNvPr id="29" name="CM col 2"/>
          <p:cNvSpPr txBox="1"/>
          <p:nvPr/>
        </p:nvSpPr>
        <p:spPr>
          <a:xfrm>
            <a:off x="7452360" y="3127248"/>
            <a:ext cx="1325880" cy="182880"/>
          </a:xfrm>
          <a:prstGeom prst="rect">
            <a:avLst/>
          </a:prstGeom>
          <a:noFill/>
          <a:ln/>
        </p:spPr>
        <p:txBody>
          <a:bodyPr wrap="square" lIns="0" tIns="0" rIns="0" bIns="0" rtlCol="0" anchor="ctr"/>
          <a:lstStyle/>
          <a:p>
            <a:pPr algn="ctr" indent="0" marL="0">
              <a:buNone/>
            </a:pPr>
            <a:r>
              <a:rPr lang="en-US" sz="1000" dirty="0">
                <a:solidFill>
                  <a:schemeClr val="tx2"/>
                </a:solidFill>
              </a:rPr>
              <a:t>Pred. Phish</a:t>
            </a:r>
            <a:endParaRPr lang="en-US" sz="1000" dirty="0"/>
          </a:p>
        </p:txBody>
      </p:sp>
      <p:sp>
        <p:nvSpPr>
          <p:cNvPr id="30" name="CM row 1"/>
          <p:cNvSpPr txBox="1"/>
          <p:nvPr/>
        </p:nvSpPr>
        <p:spPr>
          <a:xfrm>
            <a:off x="5166360" y="3346704"/>
            <a:ext cx="822960" cy="530352"/>
          </a:xfrm>
          <a:prstGeom prst="rect">
            <a:avLst/>
          </a:prstGeom>
          <a:noFill/>
          <a:ln/>
        </p:spPr>
        <p:txBody>
          <a:bodyPr wrap="square" lIns="0" tIns="0" rIns="0" bIns="0" rtlCol="0" anchor="ctr"/>
          <a:lstStyle/>
          <a:p>
            <a:pPr indent="0" marL="0">
              <a:buNone/>
            </a:pPr>
            <a:r>
              <a:rPr lang="en-US" sz="1000" dirty="0">
                <a:solidFill>
                  <a:schemeClr val="tx2"/>
                </a:solidFill>
              </a:rPr>
              <a:t>Act. Safe</a:t>
            </a:r>
            <a:endParaRPr lang="en-US" sz="1000" dirty="0"/>
          </a:p>
        </p:txBody>
      </p:sp>
      <p:sp>
        <p:nvSpPr>
          <p:cNvPr id="31" name="CM cell 00"/>
          <p:cNvSpPr/>
          <p:nvPr/>
        </p:nvSpPr>
        <p:spPr>
          <a:xfrm>
            <a:off x="6035040" y="3346704"/>
            <a:ext cx="1325880" cy="530352"/>
          </a:xfrm>
          <a:prstGeom prst="roundRect">
            <a:avLst>
              <a:gd name="adj" fmla="val 12069"/>
            </a:avLst>
          </a:prstGeom>
          <a:solidFill>
            <a:schemeClr val="accent3">
              <a:alpha val="18000"/>
            </a:schemeClr>
          </a:solidFill>
          <a:ln w="12700">
            <a:solidFill>
              <a:schemeClr val="accent3"/>
            </a:solidFill>
            <a:prstDash val="solid"/>
          </a:ln>
        </p:spPr>
      </p:sp>
      <p:sp>
        <p:nvSpPr>
          <p:cNvPr id="32" name="CM text 00"/>
          <p:cNvSpPr txBox="1"/>
          <p:nvPr/>
        </p:nvSpPr>
        <p:spPr>
          <a:xfrm>
            <a:off x="6035040" y="3346704"/>
            <a:ext cx="1325880" cy="530352"/>
          </a:xfrm>
          <a:prstGeom prst="rect">
            <a:avLst/>
          </a:prstGeom>
          <a:noFill/>
          <a:ln/>
        </p:spPr>
        <p:txBody>
          <a:bodyPr wrap="square" lIns="0" tIns="0" rIns="0" bIns="0" rtlCol="0" anchor="ctr"/>
          <a:lstStyle/>
          <a:p>
            <a:pPr algn="ctr" indent="0" marL="0">
              <a:buNone/>
            </a:pPr>
            <a:r>
              <a:rPr lang="en-US" sz="1800" b="1" dirty="0">
                <a:solidFill>
                  <a:schemeClr val="tx1"/>
                </a:solidFill>
              </a:rPr>
              <a:t>600</a:t>
            </a:r>
            <a:endParaRPr lang="en-US" sz="1800" dirty="0"/>
          </a:p>
          <a:p>
            <a:pPr algn="ctr" indent="0" marL="0">
              <a:buNone/>
            </a:pPr>
            <a:r>
              <a:rPr lang="en-US" sz="1000" dirty="0">
                <a:solidFill>
                  <a:schemeClr val="tx2"/>
                </a:solidFill>
              </a:rPr>
              <a:t>True Neg.</a:t>
            </a:r>
            <a:endParaRPr lang="en-US" sz="1800" dirty="0"/>
          </a:p>
        </p:txBody>
      </p:sp>
      <p:sp>
        <p:nvSpPr>
          <p:cNvPr id="33" name="CM cell 01"/>
          <p:cNvSpPr/>
          <p:nvPr/>
        </p:nvSpPr>
        <p:spPr>
          <a:xfrm>
            <a:off x="7452360" y="3346704"/>
            <a:ext cx="1325880" cy="530352"/>
          </a:xfrm>
          <a:prstGeom prst="roundRect">
            <a:avLst>
              <a:gd name="adj" fmla="val 12069"/>
            </a:avLst>
          </a:prstGeom>
          <a:solidFill>
            <a:schemeClr val="accent4">
              <a:alpha val="18000"/>
            </a:schemeClr>
          </a:solidFill>
          <a:ln w="12700">
            <a:solidFill>
              <a:schemeClr val="accent4"/>
            </a:solidFill>
            <a:prstDash val="solid"/>
          </a:ln>
        </p:spPr>
      </p:sp>
      <p:sp>
        <p:nvSpPr>
          <p:cNvPr id="34" name="CM text 01"/>
          <p:cNvSpPr txBox="1"/>
          <p:nvPr/>
        </p:nvSpPr>
        <p:spPr>
          <a:xfrm>
            <a:off x="7452360" y="3346704"/>
            <a:ext cx="1325880" cy="530352"/>
          </a:xfrm>
          <a:prstGeom prst="rect">
            <a:avLst/>
          </a:prstGeom>
          <a:noFill/>
          <a:ln/>
        </p:spPr>
        <p:txBody>
          <a:bodyPr wrap="square" lIns="0" tIns="0" rIns="0" bIns="0" rtlCol="0" anchor="ctr"/>
          <a:lstStyle/>
          <a:p>
            <a:pPr algn="ctr" indent="0" marL="0">
              <a:buNone/>
            </a:pPr>
            <a:r>
              <a:rPr lang="en-US" sz="1800" b="1" dirty="0">
                <a:solidFill>
                  <a:schemeClr val="tx1"/>
                </a:solidFill>
              </a:rPr>
              <a:t>0</a:t>
            </a:r>
            <a:endParaRPr lang="en-US" sz="1800" dirty="0"/>
          </a:p>
          <a:p>
            <a:pPr algn="ctr" indent="0" marL="0">
              <a:buNone/>
            </a:pPr>
            <a:r>
              <a:rPr lang="en-US" sz="1000" dirty="0">
                <a:solidFill>
                  <a:schemeClr val="tx2"/>
                </a:solidFill>
              </a:rPr>
              <a:t>False Pos.</a:t>
            </a:r>
            <a:endParaRPr lang="en-US" sz="1800" dirty="0"/>
          </a:p>
        </p:txBody>
      </p:sp>
      <p:sp>
        <p:nvSpPr>
          <p:cNvPr id="35" name="CM row 2"/>
          <p:cNvSpPr txBox="1"/>
          <p:nvPr/>
        </p:nvSpPr>
        <p:spPr>
          <a:xfrm>
            <a:off x="5166360" y="3950208"/>
            <a:ext cx="822960" cy="530352"/>
          </a:xfrm>
          <a:prstGeom prst="rect">
            <a:avLst/>
          </a:prstGeom>
          <a:noFill/>
          <a:ln/>
        </p:spPr>
        <p:txBody>
          <a:bodyPr wrap="square" lIns="0" tIns="0" rIns="0" bIns="0" rtlCol="0" anchor="ctr"/>
          <a:lstStyle/>
          <a:p>
            <a:pPr indent="0" marL="0">
              <a:buNone/>
            </a:pPr>
            <a:r>
              <a:rPr lang="en-US" sz="1000" dirty="0">
                <a:solidFill>
                  <a:schemeClr val="tx2"/>
                </a:solidFill>
              </a:rPr>
              <a:t>Act. Phish</a:t>
            </a:r>
            <a:endParaRPr lang="en-US" sz="1000" dirty="0"/>
          </a:p>
        </p:txBody>
      </p:sp>
      <p:sp>
        <p:nvSpPr>
          <p:cNvPr id="36" name="CM cell 10"/>
          <p:cNvSpPr/>
          <p:nvPr/>
        </p:nvSpPr>
        <p:spPr>
          <a:xfrm>
            <a:off x="6035040" y="3950208"/>
            <a:ext cx="1325880" cy="530352"/>
          </a:xfrm>
          <a:prstGeom prst="roundRect">
            <a:avLst>
              <a:gd name="adj" fmla="val 12069"/>
            </a:avLst>
          </a:prstGeom>
          <a:solidFill>
            <a:schemeClr val="accent4">
              <a:alpha val="18000"/>
            </a:schemeClr>
          </a:solidFill>
          <a:ln w="12700">
            <a:solidFill>
              <a:schemeClr val="accent4"/>
            </a:solidFill>
            <a:prstDash val="solid"/>
          </a:ln>
        </p:spPr>
      </p:sp>
      <p:sp>
        <p:nvSpPr>
          <p:cNvPr id="37" name="CM text 10"/>
          <p:cNvSpPr txBox="1"/>
          <p:nvPr/>
        </p:nvSpPr>
        <p:spPr>
          <a:xfrm>
            <a:off x="6035040" y="3950208"/>
            <a:ext cx="1325880" cy="530352"/>
          </a:xfrm>
          <a:prstGeom prst="rect">
            <a:avLst/>
          </a:prstGeom>
          <a:noFill/>
          <a:ln/>
        </p:spPr>
        <p:txBody>
          <a:bodyPr wrap="square" lIns="0" tIns="0" rIns="0" bIns="0" rtlCol="0" anchor="ctr"/>
          <a:lstStyle/>
          <a:p>
            <a:pPr algn="ctr" indent="0" marL="0">
              <a:buNone/>
            </a:pPr>
            <a:r>
              <a:rPr lang="en-US" sz="1800" b="1" dirty="0">
                <a:solidFill>
                  <a:schemeClr val="tx1"/>
                </a:solidFill>
              </a:rPr>
              <a:t>0</a:t>
            </a:r>
            <a:endParaRPr lang="en-US" sz="1800" dirty="0"/>
          </a:p>
          <a:p>
            <a:pPr algn="ctr" indent="0" marL="0">
              <a:buNone/>
            </a:pPr>
            <a:r>
              <a:rPr lang="en-US" sz="1000" dirty="0">
                <a:solidFill>
                  <a:schemeClr val="tx2"/>
                </a:solidFill>
              </a:rPr>
              <a:t>False Neg.</a:t>
            </a:r>
            <a:endParaRPr lang="en-US" sz="1800" dirty="0"/>
          </a:p>
        </p:txBody>
      </p:sp>
      <p:sp>
        <p:nvSpPr>
          <p:cNvPr id="38" name="CM cell 11"/>
          <p:cNvSpPr/>
          <p:nvPr/>
        </p:nvSpPr>
        <p:spPr>
          <a:xfrm>
            <a:off x="7452360" y="3950208"/>
            <a:ext cx="1325880" cy="530352"/>
          </a:xfrm>
          <a:prstGeom prst="roundRect">
            <a:avLst>
              <a:gd name="adj" fmla="val 12069"/>
            </a:avLst>
          </a:prstGeom>
          <a:solidFill>
            <a:schemeClr val="accent3">
              <a:alpha val="18000"/>
            </a:schemeClr>
          </a:solidFill>
          <a:ln w="12700">
            <a:solidFill>
              <a:schemeClr val="accent3"/>
            </a:solidFill>
            <a:prstDash val="solid"/>
          </a:ln>
        </p:spPr>
      </p:sp>
      <p:sp>
        <p:nvSpPr>
          <p:cNvPr id="39" name="CM text 11"/>
          <p:cNvSpPr txBox="1"/>
          <p:nvPr/>
        </p:nvSpPr>
        <p:spPr>
          <a:xfrm>
            <a:off x="7452360" y="3950208"/>
            <a:ext cx="1325880" cy="530352"/>
          </a:xfrm>
          <a:prstGeom prst="rect">
            <a:avLst/>
          </a:prstGeom>
          <a:noFill/>
          <a:ln/>
        </p:spPr>
        <p:txBody>
          <a:bodyPr wrap="square" lIns="0" tIns="0" rIns="0" bIns="0" rtlCol="0" anchor="ctr"/>
          <a:lstStyle/>
          <a:p>
            <a:pPr algn="ctr" indent="0" marL="0">
              <a:buNone/>
            </a:pPr>
            <a:r>
              <a:rPr lang="en-US" sz="1800" b="1" dirty="0">
                <a:solidFill>
                  <a:schemeClr val="tx1"/>
                </a:solidFill>
              </a:rPr>
              <a:t>600</a:t>
            </a:r>
            <a:endParaRPr lang="en-US" sz="1800" dirty="0"/>
          </a:p>
          <a:p>
            <a:pPr algn="ctr" indent="0" marL="0">
              <a:buNone/>
            </a:pPr>
            <a:r>
              <a:rPr lang="en-US" sz="1000" dirty="0">
                <a:solidFill>
                  <a:schemeClr val="tx2"/>
                </a:solidFill>
              </a:rPr>
              <a:t>True Pos.</a:t>
            </a:r>
            <a:endParaRPr lang="en-US" sz="1800" dirty="0"/>
          </a:p>
        </p:txBody>
      </p:sp>
      <p:pic>
        <p:nvPicPr>
          <p:cNvPr id="40" name="Image 1" descr="lock">    </p:cNvPr>
          <p:cNvPicPr>
            <a:picLocks noChangeAspect="1"/>
          </p:cNvPicPr>
          <p:nvPr/>
        </p:nvPicPr>
        <p:blipFill>
          <a:blip r:embed="rId2"/>
          <a:stretch>
            <a:fillRect/>
          </a:stretch>
        </p:blipFill>
        <p:spPr>
          <a:xfrm>
            <a:off x="365760" y="4645152"/>
            <a:ext cx="219456" cy="219456"/>
          </a:xfrm>
          <a:prstGeom prst="rect">
            <a:avLst/>
          </a:prstGeom>
        </p:spPr>
      </p:pic>
      <p:sp>
        <p:nvSpPr>
          <p:cNvPr id="41" name="Safety statement"/>
          <p:cNvSpPr txBox="1"/>
          <p:nvPr/>
        </p:nvSpPr>
        <p:spPr>
          <a:xfrm>
            <a:off x="685800" y="4608576"/>
            <a:ext cx="8046720" cy="292608"/>
          </a:xfrm>
          <a:prstGeom prst="rect">
            <a:avLst/>
          </a:prstGeom>
          <a:noFill/>
          <a:ln/>
        </p:spPr>
        <p:txBody>
          <a:bodyPr wrap="square" lIns="0" tIns="0" rIns="0" bIns="0" rtlCol="0" anchor="ctr"/>
          <a:lstStyle/>
          <a:p>
            <a:pPr indent="0" marL="0">
              <a:buNone/>
            </a:pPr>
            <a:r>
              <a:rPr lang="en-US" sz="1300" i="1" dirty="0">
                <a:solidFill>
                  <a:schemeClr val="accent1"/>
                </a:solidFill>
              </a:rPr>
              <a:t>The system analyzes the URL without directly visiting the target website.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low"/>
          <p:cNvSpPr/>
          <p:nvPr/>
        </p:nvSpPr>
        <p:spPr>
          <a:xfrm>
            <a:off x="6583680" y="-2011680"/>
            <a:ext cx="4572000" cy="4572000"/>
          </a:xfrm>
          <a:prstGeom prst="ellipse">
            <a:avLst/>
          </a:prstGeom>
          <a:solidFill>
            <a:schemeClr val="accent2">
              <a:alpha val="8000"/>
            </a:schemeClr>
          </a:solidFill>
          <a:ln/>
        </p:spPr>
      </p:sp>
      <p:sp>
        <p:nvSpPr>
          <p:cNvPr id="3" name="Text 0"/>
          <p:cNvSpPr/>
          <p:nvPr>
            <p:ph idx="100" type="title" hasCustomPrompt="1"/>
          </p:nvPr>
        </p:nvSpPr>
        <p:spPr>
          <a:xfrm>
            <a:off x="365760" y="201168"/>
            <a:ext cx="8412480" cy="566928"/>
          </a:xfrm>
          <a:prstGeom prst="rect">
            <a:avLst/>
          </a:prstGeom>
          <a:noFill/>
          <a:ln/>
        </p:spPr>
        <p:txBody>
          <a:bodyPr wrap="square" lIns="0" tIns="0" rIns="0" bIns="0" rtlCol="0" anchor="ctr"/>
          <a:lstStyle/>
          <a:p>
            <a:pPr algn="l" indent="0" marL="0">
              <a:buNone/>
            </a:pPr>
            <a:r>
              <a:rPr lang="en-US" sz="2800" b="1" dirty="0">
                <a:solidFill>
                  <a:schemeClr val="tx1"/>
                </a:solidFill>
              </a:rPr>
              <a:t>Conclusion &amp; Future Scope</a:t>
            </a:r>
            <a:endParaRPr lang="en-US" sz="2800" dirty="0"/>
          </a:p>
        </p:txBody>
      </p:sp>
      <p:sp>
        <p:nvSpPr>
          <p:cNvPr id="4" name="Advantages panel"/>
          <p:cNvSpPr/>
          <p:nvPr/>
        </p:nvSpPr>
        <p:spPr>
          <a:xfrm>
            <a:off x="365760" y="914400"/>
            <a:ext cx="2697480" cy="3200400"/>
          </a:xfrm>
          <a:prstGeom prst="roundRect">
            <a:avLst>
              <a:gd name="adj" fmla="val 2712"/>
            </a:avLst>
          </a:prstGeom>
          <a:solidFill>
            <a:schemeClr val="bg2"/>
          </a:solidFill>
          <a:ln w="12700">
            <a:solidFill>
              <a:schemeClr val="accent3">
                <a:alpha val="55000"/>
              </a:schemeClr>
            </a:solidFill>
            <a:prstDash val="solid"/>
          </a:ln>
        </p:spPr>
      </p:sp>
      <p:sp>
        <p:nvSpPr>
          <p:cNvPr id="5" name="Advantages circle"/>
          <p:cNvSpPr/>
          <p:nvPr/>
        </p:nvSpPr>
        <p:spPr>
          <a:xfrm>
            <a:off x="548640" y="1078992"/>
            <a:ext cx="457200" cy="457200"/>
          </a:xfrm>
          <a:prstGeom prst="ellipse">
            <a:avLst/>
          </a:prstGeom>
          <a:solidFill>
            <a:schemeClr val="accent6"/>
          </a:solidFill>
          <a:ln w="9525">
            <a:solidFill>
              <a:schemeClr val="accent1">
                <a:alpha val="50000"/>
              </a:schemeClr>
            </a:solidFill>
            <a:prstDash val="solid"/>
          </a:ln>
        </p:spPr>
      </p:sp>
      <p:pic>
        <p:nvPicPr>
          <p:cNvPr id="6" name="Image 0" descr="Advantages">    </p:cNvPr>
          <p:cNvPicPr>
            <a:picLocks noChangeAspect="1"/>
          </p:cNvPicPr>
          <p:nvPr/>
        </p:nvPicPr>
        <p:blipFill>
          <a:blip r:embed="rId1"/>
          <a:stretch>
            <a:fillRect/>
          </a:stretch>
        </p:blipFill>
        <p:spPr>
          <a:xfrm>
            <a:off x="662940" y="1193292"/>
            <a:ext cx="228600" cy="228600"/>
          </a:xfrm>
          <a:prstGeom prst="rect">
            <a:avLst/>
          </a:prstGeom>
        </p:spPr>
      </p:pic>
      <p:sp>
        <p:nvSpPr>
          <p:cNvPr id="7" name="Advantages heading"/>
          <p:cNvSpPr txBox="1"/>
          <p:nvPr/>
        </p:nvSpPr>
        <p:spPr>
          <a:xfrm>
            <a:off x="1115568" y="1078992"/>
            <a:ext cx="1783080" cy="457200"/>
          </a:xfrm>
          <a:prstGeom prst="rect">
            <a:avLst/>
          </a:prstGeom>
          <a:noFill/>
          <a:ln/>
        </p:spPr>
        <p:txBody>
          <a:bodyPr wrap="square" lIns="0" tIns="0" rIns="0" bIns="0" rtlCol="0" anchor="ctr"/>
          <a:lstStyle/>
          <a:p>
            <a:pPr indent="0" marL="0">
              <a:buNone/>
            </a:pPr>
            <a:r>
              <a:rPr lang="en-US" sz="1700" b="1" dirty="0">
                <a:solidFill>
                  <a:schemeClr val="tx1"/>
                </a:solidFill>
              </a:rPr>
              <a:t>Advantages</a:t>
            </a:r>
            <a:endParaRPr lang="en-US" sz="1700" dirty="0"/>
          </a:p>
        </p:txBody>
      </p:sp>
      <p:sp>
        <p:nvSpPr>
          <p:cNvPr id="8" name="Advantages list"/>
          <p:cNvSpPr txBox="1"/>
          <p:nvPr/>
        </p:nvSpPr>
        <p:spPr>
          <a:xfrm>
            <a:off x="566928" y="1691640"/>
            <a:ext cx="2331720" cy="22860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Fast URL analysis</a:t>
            </a:r>
            <a:endParaRPr lang="en-US" sz="1300" dirty="0"/>
          </a:p>
          <a:p>
            <a:pPr marL="342900" indent="-342900">
              <a:spcAft>
                <a:spcPts val="700"/>
              </a:spcAft>
              <a:buSzPct val="100000"/>
              <a:buChar char="•"/>
            </a:pPr>
            <a:r>
              <a:rPr lang="en-US" sz="1300" dirty="0">
                <a:solidFill>
                  <a:schemeClr val="tx1"/>
                </a:solidFill>
              </a:rPr>
              <a:t>No need to visit suspicious websites</a:t>
            </a:r>
            <a:endParaRPr lang="en-US" sz="1300" dirty="0"/>
          </a:p>
          <a:p>
            <a:pPr marL="342900" indent="-342900">
              <a:spcAft>
                <a:spcPts val="700"/>
              </a:spcAft>
              <a:buSzPct val="100000"/>
              <a:buChar char="•"/>
            </a:pPr>
            <a:r>
              <a:rPr lang="en-US" sz="1300" dirty="0">
                <a:solidFill>
                  <a:schemeClr val="tx1"/>
                </a:solidFill>
              </a:rPr>
              <a:t>Automated ML classification</a:t>
            </a:r>
            <a:endParaRPr lang="en-US" sz="1300" dirty="0"/>
          </a:p>
          <a:p>
            <a:pPr marL="342900" indent="-342900">
              <a:spcAft>
                <a:spcPts val="700"/>
              </a:spcAft>
              <a:buSzPct val="100000"/>
              <a:buChar char="•"/>
            </a:pPr>
            <a:r>
              <a:rPr lang="en-US" sz="1300" dirty="0">
                <a:solidFill>
                  <a:schemeClr val="tx1"/>
                </a:solidFill>
              </a:rPr>
              <a:t>Multiple URL characteristics</a:t>
            </a:r>
            <a:endParaRPr lang="en-US" sz="1300" dirty="0"/>
          </a:p>
          <a:p>
            <a:pPr marL="342900" indent="-342900">
              <a:spcAft>
                <a:spcPts val="700"/>
              </a:spcAft>
              <a:buSzPct val="100000"/>
              <a:buChar char="•"/>
            </a:pPr>
            <a:r>
              <a:rPr lang="en-US" sz="1300" dirty="0">
                <a:solidFill>
                  <a:schemeClr val="tx1"/>
                </a:solidFill>
              </a:rPr>
              <a:t>Explainable prediction</a:t>
            </a:r>
            <a:endParaRPr lang="en-US" sz="1300" dirty="0"/>
          </a:p>
        </p:txBody>
      </p:sp>
      <p:sp>
        <p:nvSpPr>
          <p:cNvPr id="9" name="Limitations panel"/>
          <p:cNvSpPr/>
          <p:nvPr/>
        </p:nvSpPr>
        <p:spPr>
          <a:xfrm>
            <a:off x="3223260" y="914400"/>
            <a:ext cx="2697480" cy="3200400"/>
          </a:xfrm>
          <a:prstGeom prst="roundRect">
            <a:avLst>
              <a:gd name="adj" fmla="val 2712"/>
            </a:avLst>
          </a:prstGeom>
          <a:solidFill>
            <a:schemeClr val="bg2"/>
          </a:solidFill>
          <a:ln w="12700">
            <a:solidFill>
              <a:schemeClr val="accent5">
                <a:alpha val="55000"/>
              </a:schemeClr>
            </a:solidFill>
            <a:prstDash val="solid"/>
          </a:ln>
        </p:spPr>
      </p:sp>
      <p:sp>
        <p:nvSpPr>
          <p:cNvPr id="10" name="Limitations circle"/>
          <p:cNvSpPr/>
          <p:nvPr/>
        </p:nvSpPr>
        <p:spPr>
          <a:xfrm>
            <a:off x="3406140" y="1078992"/>
            <a:ext cx="457200" cy="457200"/>
          </a:xfrm>
          <a:prstGeom prst="ellipse">
            <a:avLst/>
          </a:prstGeom>
          <a:solidFill>
            <a:schemeClr val="accent6"/>
          </a:solidFill>
          <a:ln w="9525">
            <a:solidFill>
              <a:schemeClr val="accent1">
                <a:alpha val="50000"/>
              </a:schemeClr>
            </a:solidFill>
            <a:prstDash val="solid"/>
          </a:ln>
        </p:spPr>
      </p:sp>
      <p:pic>
        <p:nvPicPr>
          <p:cNvPr id="11" name="Image 1" descr="Limitations">    </p:cNvPr>
          <p:cNvPicPr>
            <a:picLocks noChangeAspect="1"/>
          </p:cNvPicPr>
          <p:nvPr/>
        </p:nvPicPr>
        <p:blipFill>
          <a:blip r:embed="rId2"/>
          <a:stretch>
            <a:fillRect/>
          </a:stretch>
        </p:blipFill>
        <p:spPr>
          <a:xfrm>
            <a:off x="3520440" y="1193292"/>
            <a:ext cx="228600" cy="228600"/>
          </a:xfrm>
          <a:prstGeom prst="rect">
            <a:avLst/>
          </a:prstGeom>
        </p:spPr>
      </p:pic>
      <p:sp>
        <p:nvSpPr>
          <p:cNvPr id="12" name="Limitations heading"/>
          <p:cNvSpPr txBox="1"/>
          <p:nvPr/>
        </p:nvSpPr>
        <p:spPr>
          <a:xfrm>
            <a:off x="3973068" y="1078992"/>
            <a:ext cx="1783080" cy="457200"/>
          </a:xfrm>
          <a:prstGeom prst="rect">
            <a:avLst/>
          </a:prstGeom>
          <a:noFill/>
          <a:ln/>
        </p:spPr>
        <p:txBody>
          <a:bodyPr wrap="square" lIns="0" tIns="0" rIns="0" bIns="0" rtlCol="0" anchor="ctr"/>
          <a:lstStyle/>
          <a:p>
            <a:pPr indent="0" marL="0">
              <a:buNone/>
            </a:pPr>
            <a:r>
              <a:rPr lang="en-US" sz="1700" b="1" dirty="0">
                <a:solidFill>
                  <a:schemeClr val="tx1"/>
                </a:solidFill>
              </a:rPr>
              <a:t>Limitations</a:t>
            </a:r>
            <a:endParaRPr lang="en-US" sz="1700" dirty="0"/>
          </a:p>
        </p:txBody>
      </p:sp>
      <p:sp>
        <p:nvSpPr>
          <p:cNvPr id="13" name="Limitations list"/>
          <p:cNvSpPr txBox="1"/>
          <p:nvPr/>
        </p:nvSpPr>
        <p:spPr>
          <a:xfrm>
            <a:off x="3424428" y="1691640"/>
            <a:ext cx="2331720" cy="22860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Mainly URL-based analysis</a:t>
            </a:r>
            <a:endParaRPr lang="en-US" sz="1300" dirty="0"/>
          </a:p>
          <a:p>
            <a:pPr marL="342900" indent="-342900">
              <a:spcAft>
                <a:spcPts val="700"/>
              </a:spcAft>
              <a:buSzPct val="100000"/>
              <a:buChar char="•"/>
            </a:pPr>
            <a:r>
              <a:rPr lang="en-US" sz="1300" dirty="0">
                <a:solidFill>
                  <a:schemeClr val="tx1"/>
                </a:solidFill>
              </a:rPr>
              <a:t>Cannot guarantee detection of every phishing URL</a:t>
            </a:r>
            <a:endParaRPr lang="en-US" sz="1300" dirty="0"/>
          </a:p>
          <a:p>
            <a:pPr marL="342900" indent="-342900">
              <a:spcAft>
                <a:spcPts val="700"/>
              </a:spcAft>
              <a:buSzPct val="100000"/>
              <a:buChar char="•"/>
            </a:pPr>
            <a:r>
              <a:rPr lang="en-US" sz="1300" dirty="0">
                <a:solidFill>
                  <a:schemeClr val="tx1"/>
                </a:solidFill>
              </a:rPr>
              <a:t>Attackers can change URL patterns</a:t>
            </a:r>
            <a:endParaRPr lang="en-US" sz="1300" dirty="0"/>
          </a:p>
          <a:p>
            <a:pPr marL="342900" indent="-342900">
              <a:spcAft>
                <a:spcPts val="700"/>
              </a:spcAft>
              <a:buSzPct val="100000"/>
              <a:buChar char="•"/>
            </a:pPr>
            <a:r>
              <a:rPr lang="en-US" sz="1300" dirty="0">
                <a:solidFill>
                  <a:schemeClr val="tx1"/>
                </a:solidFill>
              </a:rPr>
              <a:t>Performance depends on training data</a:t>
            </a:r>
            <a:endParaRPr lang="en-US" sz="1300" dirty="0"/>
          </a:p>
        </p:txBody>
      </p:sp>
      <p:sp>
        <p:nvSpPr>
          <p:cNvPr id="14" name="Future Scope panel"/>
          <p:cNvSpPr/>
          <p:nvPr/>
        </p:nvSpPr>
        <p:spPr>
          <a:xfrm>
            <a:off x="6080760" y="914400"/>
            <a:ext cx="2697480" cy="3200400"/>
          </a:xfrm>
          <a:prstGeom prst="roundRect">
            <a:avLst>
              <a:gd name="adj" fmla="val 2712"/>
            </a:avLst>
          </a:prstGeom>
          <a:solidFill>
            <a:schemeClr val="bg2"/>
          </a:solidFill>
          <a:ln w="12700">
            <a:solidFill>
              <a:schemeClr val="accent1">
                <a:alpha val="55000"/>
              </a:schemeClr>
            </a:solidFill>
            <a:prstDash val="solid"/>
          </a:ln>
        </p:spPr>
      </p:sp>
      <p:sp>
        <p:nvSpPr>
          <p:cNvPr id="15" name="Future Scope circle"/>
          <p:cNvSpPr/>
          <p:nvPr/>
        </p:nvSpPr>
        <p:spPr>
          <a:xfrm>
            <a:off x="6263640" y="1078992"/>
            <a:ext cx="457200" cy="457200"/>
          </a:xfrm>
          <a:prstGeom prst="ellipse">
            <a:avLst/>
          </a:prstGeom>
          <a:solidFill>
            <a:schemeClr val="accent6"/>
          </a:solidFill>
          <a:ln w="9525">
            <a:solidFill>
              <a:schemeClr val="accent1">
                <a:alpha val="50000"/>
              </a:schemeClr>
            </a:solidFill>
            <a:prstDash val="solid"/>
          </a:ln>
        </p:spPr>
      </p:sp>
      <p:pic>
        <p:nvPicPr>
          <p:cNvPr id="16" name="Image 2" descr="Future Scope">    </p:cNvPr>
          <p:cNvPicPr>
            <a:picLocks noChangeAspect="1"/>
          </p:cNvPicPr>
          <p:nvPr/>
        </p:nvPicPr>
        <p:blipFill>
          <a:blip r:embed="rId3"/>
          <a:stretch>
            <a:fillRect/>
          </a:stretch>
        </p:blipFill>
        <p:spPr>
          <a:xfrm>
            <a:off x="6377940" y="1193292"/>
            <a:ext cx="228600" cy="228600"/>
          </a:xfrm>
          <a:prstGeom prst="rect">
            <a:avLst/>
          </a:prstGeom>
        </p:spPr>
      </p:pic>
      <p:sp>
        <p:nvSpPr>
          <p:cNvPr id="17" name="Future Scope heading"/>
          <p:cNvSpPr txBox="1"/>
          <p:nvPr/>
        </p:nvSpPr>
        <p:spPr>
          <a:xfrm>
            <a:off x="6830568" y="1078992"/>
            <a:ext cx="1783080" cy="457200"/>
          </a:xfrm>
          <a:prstGeom prst="rect">
            <a:avLst/>
          </a:prstGeom>
          <a:noFill/>
          <a:ln/>
        </p:spPr>
        <p:txBody>
          <a:bodyPr wrap="square" lIns="0" tIns="0" rIns="0" bIns="0" rtlCol="0" anchor="ctr"/>
          <a:lstStyle/>
          <a:p>
            <a:pPr indent="0" marL="0">
              <a:buNone/>
            </a:pPr>
            <a:r>
              <a:rPr lang="en-US" sz="1700" b="1" dirty="0">
                <a:solidFill>
                  <a:schemeClr val="tx1"/>
                </a:solidFill>
              </a:rPr>
              <a:t>Future Scope</a:t>
            </a:r>
            <a:endParaRPr lang="en-US" sz="1700" dirty="0"/>
          </a:p>
        </p:txBody>
      </p:sp>
      <p:sp>
        <p:nvSpPr>
          <p:cNvPr id="18" name="Future Scope list"/>
          <p:cNvSpPr txBox="1"/>
          <p:nvPr/>
        </p:nvSpPr>
        <p:spPr>
          <a:xfrm>
            <a:off x="6281928" y="1691640"/>
            <a:ext cx="2331720" cy="22860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Browser extension</a:t>
            </a:r>
            <a:endParaRPr lang="en-US" sz="1300" dirty="0"/>
          </a:p>
          <a:p>
            <a:pPr marL="342900" indent="-342900">
              <a:spcAft>
                <a:spcPts val="700"/>
              </a:spcAft>
              <a:buSzPct val="100000"/>
              <a:buChar char="•"/>
            </a:pPr>
            <a:r>
              <a:rPr lang="en-US" sz="1300" dirty="0">
                <a:solidFill>
                  <a:schemeClr val="tx1"/>
                </a:solidFill>
              </a:rPr>
              <a:t>Email phishing detection</a:t>
            </a:r>
            <a:endParaRPr lang="en-US" sz="1300" dirty="0"/>
          </a:p>
          <a:p>
            <a:pPr marL="342900" indent="-342900">
              <a:spcAft>
                <a:spcPts val="700"/>
              </a:spcAft>
              <a:buSzPct val="100000"/>
              <a:buChar char="•"/>
            </a:pPr>
            <a:r>
              <a:rPr lang="en-US" sz="1300" dirty="0">
                <a:solidFill>
                  <a:schemeClr val="tx1"/>
                </a:solidFill>
              </a:rPr>
              <a:t>Real-time threat intelligence</a:t>
            </a:r>
            <a:endParaRPr lang="en-US" sz="1300" dirty="0"/>
          </a:p>
          <a:p>
            <a:pPr marL="342900" indent="-342900">
              <a:spcAft>
                <a:spcPts val="700"/>
              </a:spcAft>
              <a:buSzPct val="100000"/>
              <a:buChar char="•"/>
            </a:pPr>
            <a:r>
              <a:rPr lang="en-US" sz="1300" dirty="0">
                <a:solidFill>
                  <a:schemeClr val="tx1"/>
                </a:solidFill>
              </a:rPr>
              <a:t>Domain reputation checking</a:t>
            </a:r>
            <a:endParaRPr lang="en-US" sz="1300" dirty="0"/>
          </a:p>
          <a:p>
            <a:pPr marL="342900" indent="-342900">
              <a:spcAft>
                <a:spcPts val="700"/>
              </a:spcAft>
              <a:buSzPct val="100000"/>
              <a:buChar char="•"/>
            </a:pPr>
            <a:r>
              <a:rPr lang="en-US" sz="1300" dirty="0">
                <a:solidFill>
                  <a:schemeClr val="tx1"/>
                </a:solidFill>
              </a:rPr>
              <a:t>Typosquatting detection</a:t>
            </a:r>
            <a:endParaRPr lang="en-US" sz="1300" dirty="0"/>
          </a:p>
          <a:p>
            <a:pPr marL="342900" indent="-342900">
              <a:spcAft>
                <a:spcPts val="700"/>
              </a:spcAft>
              <a:buSzPct val="100000"/>
              <a:buChar char="•"/>
            </a:pPr>
            <a:r>
              <a:rPr lang="en-US" sz="1300" dirty="0">
                <a:solidFill>
                  <a:schemeClr val="tx1"/>
                </a:solidFill>
              </a:rPr>
              <a:t>Continuous model retraining</a:t>
            </a:r>
            <a:endParaRPr lang="en-US" sz="1300" dirty="0"/>
          </a:p>
        </p:txBody>
      </p:sp>
      <p:sp>
        <p:nvSpPr>
          <p:cNvPr id="19" name="Thank you band"/>
          <p:cNvSpPr/>
          <p:nvPr/>
        </p:nvSpPr>
        <p:spPr>
          <a:xfrm>
            <a:off x="365760" y="4297680"/>
            <a:ext cx="8412480" cy="685800"/>
          </a:xfrm>
          <a:prstGeom prst="roundRect">
            <a:avLst>
              <a:gd name="adj" fmla="val 10667"/>
            </a:avLst>
          </a:prstGeom>
          <a:solidFill>
            <a:schemeClr val="bg2"/>
          </a:solidFill>
          <a:ln w="15875">
            <a:solidFill>
              <a:schemeClr val="accent1">
                <a:alpha val="70000"/>
              </a:schemeClr>
            </a:solidFill>
            <a:prstDash val="solid"/>
          </a:ln>
        </p:spPr>
      </p:sp>
      <p:sp>
        <p:nvSpPr>
          <p:cNvPr id="20" name="Thank you text"/>
          <p:cNvSpPr txBox="1"/>
          <p:nvPr/>
        </p:nvSpPr>
        <p:spPr>
          <a:xfrm>
            <a:off x="365760" y="4297680"/>
            <a:ext cx="8412480" cy="685800"/>
          </a:xfrm>
          <a:prstGeom prst="rect">
            <a:avLst/>
          </a:prstGeom>
          <a:noFill/>
          <a:ln/>
        </p:spPr>
        <p:txBody>
          <a:bodyPr wrap="square" lIns="0" tIns="0" rIns="0" bIns="0" rtlCol="0" anchor="ctr"/>
          <a:lstStyle/>
          <a:p>
            <a:pPr algn="ctr" indent="0" marL="0">
              <a:buNone/>
            </a:pPr>
            <a:r>
              <a:rPr lang="en-US" sz="2600" b="1" dirty="0">
                <a:solidFill>
                  <a:schemeClr val="tx1"/>
                </a:solidFill>
              </a:rPr>
              <a:t>Thank You</a:t>
            </a:r>
            <a:pPr algn="ctr" indent="0" marL="0">
              <a:buNone/>
            </a:pPr>
            <a:r>
              <a:rPr lang="en-US" sz="2200" dirty="0">
                <a:solidFill>
                  <a:schemeClr val="tx2"/>
                </a:solidFill>
              </a:rPr>
              <a:t>    |    </a:t>
            </a:r>
            <a:pPr algn="ctr" indent="0" marL="0">
              <a:buNone/>
            </a:pPr>
            <a:r>
              <a:rPr lang="en-US" sz="2400" i="1" dirty="0">
                <a:solidFill>
                  <a:schemeClr val="accent1"/>
                </a:solidFill>
              </a:rPr>
              <a:t>Questions?</a:t>
            </a:r>
            <a:endParaRPr lang="en-US" sz="2600" dirty="0"/>
          </a:p>
        </p:txBody>
      </p:sp>
    </p:spTree>
  </p:cSld>
  <p:clrMapOvr>
    <a:masterClrMapping/>
  </p:clrMapOvr>
</p:sld>
</file>

<file path=ppt/theme/theme1.xml><?xml version="1.0" encoding="utf-8"?>
<a:theme xmlns:a="http://schemas.openxmlformats.org/drawingml/2006/main" name="PhishGuard Dark">
  <a:themeElements>
    <a:clrScheme name="PhishGuard Dark">
      <a:dk1>
        <a:srgbClr val="F1F5F9"/>
      </a:dk1>
      <a:lt1>
        <a:srgbClr val="060B18"/>
      </a:lt1>
      <a:dk2>
        <a:srgbClr val="94A3B8"/>
      </a:dk2>
      <a:lt2>
        <a:srgbClr val="0D1730"/>
      </a:lt2>
      <a:accent1>
        <a:srgbClr val="22D3EE"/>
      </a:accent1>
      <a:accent2>
        <a:srgbClr val="3B82F6"/>
      </a:accent2>
      <a:accent3>
        <a:srgbClr val="34D399"/>
      </a:accent3>
      <a:accent4>
        <a:srgbClr val="F87171"/>
      </a:accent4>
      <a:accent5>
        <a:srgbClr val="FBBF24"/>
      </a:accent5>
      <a:accent6>
        <a:srgbClr val="14234A"/>
      </a:accent6>
      <a:hlink>
        <a:srgbClr val="22D3EE"/>
      </a:hlink>
      <a:folHlink>
        <a:srgbClr val="94A3B8"/>
      </a:folHlink>
    </a:clrScheme>
    <a:fontScheme name="PhishGuard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 AI</dc:title>
  <dc:subject>PptxGenJS Presentation</dc:subject>
  <dc:creator>PptxGenJS</dc:creator>
  <cp:lastModifiedBy>PptxGenJS</cp:lastModifiedBy>
  <cp:revision>1</cp:revision>
  <dcterms:created xsi:type="dcterms:W3CDTF">2026-10-07T04:59:22Z</dcterms:created>
  <dcterms:modified xsi:type="dcterms:W3CDTF">2026-10-07T04:59:22Z</dcterms:modified>
</cp:coreProperties>
</file>